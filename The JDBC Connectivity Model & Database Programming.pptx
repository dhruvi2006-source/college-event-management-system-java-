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Archivo Black" panose="020B0604020202020204" charset="0"/>
      <p:regular r:id="rId14"/>
    </p:embeddedFont>
    <p:embeddedFont>
      <p:font typeface="Arimo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JetBrains Mono" panose="020B0604020202020204" charset="0"/>
      <p:regular r:id="rId21"/>
    </p:embeddedFont>
    <p:embeddedFont>
      <p:font typeface="JetBrains Mono Bold" panose="020B0604020202020204" charset="0"/>
      <p:regular r:id="rId22"/>
    </p:embeddedFont>
    <p:embeddedFont>
      <p:font typeface="Lora Bold" panose="020B0604020202020204" charset="0"/>
      <p:regular r:id="rId23"/>
    </p:embeddedFont>
    <p:embeddedFont>
      <p:font typeface="Shrikhand" panose="020B0604020202020204" charset="0"/>
      <p:regular r:id="rId24"/>
    </p:embeddedFont>
    <p:embeddedFont>
      <p:font typeface="Source Sans Pro" panose="020B0503030403020204" pitchFamily="34" charset="0"/>
      <p:regular r:id="rId25"/>
      <p:bold r:id="rId26"/>
      <p:italic r:id="rId27"/>
      <p:boldItalic r:id="rId28"/>
    </p:embeddedFont>
    <p:embeddedFont>
      <p:font typeface="Source Sans Pro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7842" y="3204993"/>
            <a:ext cx="11830733" cy="2142470"/>
            <a:chOff x="0" y="0"/>
            <a:chExt cx="3115913" cy="564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15913" cy="564272"/>
            </a:xfrm>
            <a:custGeom>
              <a:avLst/>
              <a:gdLst/>
              <a:ahLst/>
              <a:cxnLst/>
              <a:rect l="l" t="t" r="r" b="b"/>
              <a:pathLst>
                <a:path w="3115913" h="564272">
                  <a:moveTo>
                    <a:pt x="0" y="0"/>
                  </a:moveTo>
                  <a:lnTo>
                    <a:pt x="3115913" y="0"/>
                  </a:lnTo>
                  <a:lnTo>
                    <a:pt x="3115913" y="564272"/>
                  </a:lnTo>
                  <a:lnTo>
                    <a:pt x="0" y="564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115913" cy="573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88745" y="5467227"/>
            <a:ext cx="12548925" cy="650335"/>
            <a:chOff x="0" y="0"/>
            <a:chExt cx="16731900" cy="8671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731904" cy="867119"/>
            </a:xfrm>
            <a:custGeom>
              <a:avLst/>
              <a:gdLst/>
              <a:ahLst/>
              <a:cxnLst/>
              <a:rect l="l" t="t" r="r" b="b"/>
              <a:pathLst>
                <a:path w="16731904" h="867119">
                  <a:moveTo>
                    <a:pt x="0" y="0"/>
                  </a:moveTo>
                  <a:lnTo>
                    <a:pt x="16731904" y="0"/>
                  </a:lnTo>
                  <a:lnTo>
                    <a:pt x="16731904" y="867119"/>
                  </a:lnTo>
                  <a:lnTo>
                    <a:pt x="0" y="867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119" r="24677" b="-61017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6731900" cy="8480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484"/>
                </a:lnSpc>
              </a:pPr>
              <a:r>
                <a:rPr lang="en-US" sz="2300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Advanced </a:t>
              </a:r>
              <a:r>
                <a:rPr lang="en-US" sz="2300" dirty="0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Java Programming(202045605)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4554"/>
            <a:ext cx="18274222" cy="2235504"/>
            <a:chOff x="0" y="0"/>
            <a:chExt cx="24365630" cy="298067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255958" cy="2096724"/>
              <a:chOff x="0" y="0"/>
              <a:chExt cx="4791300" cy="41416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791301" cy="414168"/>
              </a:xfrm>
              <a:custGeom>
                <a:avLst/>
                <a:gdLst/>
                <a:ahLst/>
                <a:cxnLst/>
                <a:rect l="l" t="t" r="r" b="b"/>
                <a:pathLst>
                  <a:path w="4791301" h="414168">
                    <a:moveTo>
                      <a:pt x="0" y="0"/>
                    </a:moveTo>
                    <a:lnTo>
                      <a:pt x="4791301" y="0"/>
                    </a:lnTo>
                    <a:lnTo>
                      <a:pt x="4791301" y="414168"/>
                    </a:lnTo>
                    <a:lnTo>
                      <a:pt x="0" y="41416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4791300" cy="44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85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21779066" y="21524"/>
              <a:ext cx="2586564" cy="2440275"/>
            </a:xfrm>
            <a:custGeom>
              <a:avLst/>
              <a:gdLst/>
              <a:ahLst/>
              <a:cxnLst/>
              <a:rect l="l" t="t" r="r" b="b"/>
              <a:pathLst>
                <a:path w="2586564" h="2440275">
                  <a:moveTo>
                    <a:pt x="0" y="0"/>
                  </a:moveTo>
                  <a:lnTo>
                    <a:pt x="2586564" y="0"/>
                  </a:lnTo>
                  <a:lnTo>
                    <a:pt x="2586564" y="2440274"/>
                  </a:lnTo>
                  <a:lnTo>
                    <a:pt x="0" y="2440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4544307" y="317303"/>
              <a:ext cx="16887384" cy="2663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1"/>
                </a:lnSpc>
              </a:pPr>
              <a:r>
                <a:rPr lang="en-US" sz="3452" b="1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G H PATEL COLLEGE OF ENGINEERING &amp; TECHNOLOGY</a:t>
              </a:r>
            </a:p>
            <a:p>
              <a:pPr algn="ctr">
                <a:lnSpc>
                  <a:spcPts val="3901"/>
                </a:lnSpc>
              </a:pPr>
              <a:r>
                <a:rPr lang="en-US" sz="3452" b="1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(THE CHARUTAR VIDYA MANDAL (CVM) UNIVERSITY)</a:t>
              </a:r>
            </a:p>
            <a:p>
              <a:pPr algn="ctr">
                <a:lnSpc>
                  <a:spcPts val="3901"/>
                </a:lnSpc>
              </a:pPr>
              <a:r>
                <a:rPr lang="en-US" sz="3452" b="1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DEPARTMENT OF COMPUTER ENGINEERING</a:t>
              </a:r>
            </a:p>
            <a:p>
              <a:pPr algn="ctr">
                <a:lnSpc>
                  <a:spcPts val="3901"/>
                </a:lnSpc>
                <a:spcBef>
                  <a:spcPct val="0"/>
                </a:spcBef>
              </a:pPr>
              <a:endParaRPr lang="en-US" sz="3452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3315029"/>
            <a:ext cx="19022886" cy="2152198"/>
            <a:chOff x="0" y="0"/>
            <a:chExt cx="5010143" cy="5668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10143" cy="566834"/>
            </a:xfrm>
            <a:custGeom>
              <a:avLst/>
              <a:gdLst/>
              <a:ahLst/>
              <a:cxnLst/>
              <a:rect l="l" t="t" r="r" b="b"/>
              <a:pathLst>
                <a:path w="5010143" h="566834">
                  <a:moveTo>
                    <a:pt x="0" y="0"/>
                  </a:moveTo>
                  <a:lnTo>
                    <a:pt x="5010143" y="0"/>
                  </a:lnTo>
                  <a:lnTo>
                    <a:pt x="5010143" y="566834"/>
                  </a:lnTo>
                  <a:lnTo>
                    <a:pt x="0" y="566834"/>
                  </a:lnTo>
                  <a:close/>
                </a:path>
              </a:pathLst>
            </a:custGeom>
            <a:solidFill>
              <a:srgbClr val="BFDBF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010143" cy="5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688745" y="3672824"/>
            <a:ext cx="12548925" cy="1436607"/>
            <a:chOff x="0" y="0"/>
            <a:chExt cx="16731900" cy="19154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731904" cy="1915481"/>
            </a:xfrm>
            <a:custGeom>
              <a:avLst/>
              <a:gdLst/>
              <a:ahLst/>
              <a:cxnLst/>
              <a:rect l="l" t="t" r="r" b="b"/>
              <a:pathLst>
                <a:path w="16731904" h="1915481">
                  <a:moveTo>
                    <a:pt x="0" y="0"/>
                  </a:moveTo>
                  <a:lnTo>
                    <a:pt x="16731904" y="0"/>
                  </a:lnTo>
                  <a:lnTo>
                    <a:pt x="16731904" y="1915481"/>
                  </a:lnTo>
                  <a:lnTo>
                    <a:pt x="0" y="19154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119" r="24677" b="-22148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47625"/>
              <a:ext cx="16731900" cy="186785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320"/>
                </a:lnSpc>
              </a:pPr>
              <a:r>
                <a:rPr lang="en-US" sz="4000">
                  <a:solidFill>
                    <a:srgbClr val="627A66"/>
                  </a:solidFill>
                  <a:latin typeface="Shrikhand"/>
                  <a:ea typeface="Shrikhand"/>
                  <a:cs typeface="Shrikhand"/>
                  <a:sym typeface="Shrikhand"/>
                </a:rPr>
                <a:t>The JDBC Connectivity Model &amp; Database Programming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06140" y="7863272"/>
            <a:ext cx="5544869" cy="146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6"/>
              </a:lnSpc>
            </a:pPr>
            <a:r>
              <a:rPr lang="en-US" sz="2700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Presented by</a:t>
            </a:r>
          </a:p>
          <a:p>
            <a:pPr algn="ctr">
              <a:lnSpc>
                <a:spcPts val="2916"/>
              </a:lnSpc>
            </a:pPr>
            <a:endParaRPr lang="en-US" sz="2700" b="1">
              <a:solidFill>
                <a:srgbClr val="00000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  <a:p>
            <a:pPr algn="ctr">
              <a:lnSpc>
                <a:spcPts val="2916"/>
              </a:lnSpc>
            </a:pPr>
            <a:endParaRPr lang="en-US" sz="2700" b="1">
              <a:solidFill>
                <a:srgbClr val="00000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  <a:p>
            <a:pPr algn="ctr">
              <a:lnSpc>
                <a:spcPts val="2916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Dhruvi Patel(12402040501020)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1292" y="7863272"/>
            <a:ext cx="5393100" cy="177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sz="2626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Guided by</a:t>
            </a:r>
          </a:p>
          <a:p>
            <a:pPr algn="ctr">
              <a:lnSpc>
                <a:spcPts val="2836"/>
              </a:lnSpc>
            </a:pPr>
            <a:endParaRPr lang="en-US" sz="2626" b="1">
              <a:solidFill>
                <a:srgbClr val="00000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  <a:p>
            <a:pPr algn="ctr">
              <a:lnSpc>
                <a:spcPts val="2836"/>
              </a:lnSpc>
            </a:pPr>
            <a:endParaRPr lang="en-US" sz="2626" b="1">
              <a:solidFill>
                <a:srgbClr val="000000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  <a:p>
            <a:pPr algn="ctr">
              <a:lnSpc>
                <a:spcPts val="2836"/>
              </a:lnSpc>
            </a:pPr>
            <a:r>
              <a:rPr lang="en-US" sz="262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Dr. Hetal Gaudani</a:t>
            </a:r>
          </a:p>
          <a:p>
            <a:pPr algn="ctr">
              <a:lnSpc>
                <a:spcPts val="2836"/>
              </a:lnSpc>
              <a:spcBef>
                <a:spcPct val="0"/>
              </a:spcBef>
            </a:pPr>
            <a:r>
              <a:rPr lang="en-US" sz="262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Assistant Professor(CP department)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9649" y="6117562"/>
            <a:ext cx="12548925" cy="650335"/>
            <a:chOff x="0" y="0"/>
            <a:chExt cx="16731900" cy="86711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731904" cy="867119"/>
            </a:xfrm>
            <a:custGeom>
              <a:avLst/>
              <a:gdLst/>
              <a:ahLst/>
              <a:cxnLst/>
              <a:rect l="l" t="t" r="r" b="b"/>
              <a:pathLst>
                <a:path w="16731904" h="867119">
                  <a:moveTo>
                    <a:pt x="0" y="0"/>
                  </a:moveTo>
                  <a:lnTo>
                    <a:pt x="16731904" y="0"/>
                  </a:lnTo>
                  <a:lnTo>
                    <a:pt x="16731904" y="867119"/>
                  </a:lnTo>
                  <a:lnTo>
                    <a:pt x="0" y="867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119" r="24677" b="-61017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16731900" cy="8480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484"/>
                </a:lnSpc>
              </a:pPr>
              <a:r>
                <a:rPr lang="en-US" sz="2300" dirty="0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Date: 13th October, 2026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-371830" y="-574094"/>
            <a:ext cx="3060576" cy="3059301"/>
          </a:xfrm>
          <a:custGeom>
            <a:avLst/>
            <a:gdLst/>
            <a:ahLst/>
            <a:cxnLst/>
            <a:rect l="l" t="t" r="r" b="b"/>
            <a:pathLst>
              <a:path w="3060576" h="3059301">
                <a:moveTo>
                  <a:pt x="0" y="0"/>
                </a:moveTo>
                <a:lnTo>
                  <a:pt x="3060575" y="0"/>
                </a:lnTo>
                <a:lnTo>
                  <a:pt x="3060575" y="3059300"/>
                </a:lnTo>
                <a:lnTo>
                  <a:pt x="0" y="3059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AutoShape 26"/>
          <p:cNvSpPr/>
          <p:nvPr/>
        </p:nvSpPr>
        <p:spPr>
          <a:xfrm flipV="1">
            <a:off x="351292" y="8412092"/>
            <a:ext cx="489804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27" name="AutoShape 27"/>
          <p:cNvSpPr/>
          <p:nvPr/>
        </p:nvSpPr>
        <p:spPr>
          <a:xfrm flipV="1">
            <a:off x="12429554" y="8373992"/>
            <a:ext cx="489804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5856" y="3593306"/>
            <a:ext cx="7786688" cy="771525"/>
            <a:chOff x="0" y="0"/>
            <a:chExt cx="10382250" cy="1028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35856" y="4550569"/>
            <a:ext cx="7786688" cy="771525"/>
            <a:chOff x="0" y="0"/>
            <a:chExt cx="10382250" cy="1028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35856" y="5600700"/>
            <a:ext cx="7786688" cy="771525"/>
            <a:chOff x="0" y="0"/>
            <a:chExt cx="10382250" cy="1028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35856" y="6591300"/>
            <a:ext cx="7786688" cy="771525"/>
            <a:chOff x="0" y="0"/>
            <a:chExt cx="10382250" cy="1028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365456" y="3593306"/>
            <a:ext cx="7786688" cy="771525"/>
            <a:chOff x="0" y="0"/>
            <a:chExt cx="10382250" cy="1028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365456" y="4550569"/>
            <a:ext cx="7786688" cy="771525"/>
            <a:chOff x="0" y="0"/>
            <a:chExt cx="10382250" cy="1028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65456" y="5507831"/>
            <a:ext cx="7786688" cy="771525"/>
            <a:chOff x="0" y="0"/>
            <a:chExt cx="10382250" cy="10287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65456" y="6465094"/>
            <a:ext cx="7786688" cy="771525"/>
            <a:chOff x="0" y="0"/>
            <a:chExt cx="10382250" cy="1028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365456" y="7422356"/>
            <a:ext cx="7786688" cy="771525"/>
            <a:chOff x="0" y="0"/>
            <a:chExt cx="10382250" cy="1028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82250" cy="1028700"/>
            </a:xfrm>
            <a:custGeom>
              <a:avLst/>
              <a:gdLst/>
              <a:ahLst/>
              <a:cxnLst/>
              <a:rect l="l" t="t" r="r" b="b"/>
              <a:pathLst>
                <a:path w="10382250" h="1028700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lnTo>
                    <a:pt x="10226929" y="0"/>
                  </a:lnTo>
                  <a:cubicBezTo>
                    <a:pt x="10312654" y="0"/>
                    <a:pt x="10382250" y="69469"/>
                    <a:pt x="10382250" y="155321"/>
                  </a:cubicBezTo>
                  <a:lnTo>
                    <a:pt x="10382250" y="873379"/>
                  </a:lnTo>
                  <a:cubicBezTo>
                    <a:pt x="10382250" y="959104"/>
                    <a:pt x="10312781" y="1028700"/>
                    <a:pt x="10226929" y="1028700"/>
                  </a:cubicBezTo>
                  <a:lnTo>
                    <a:pt x="155321" y="1028700"/>
                  </a:lnTo>
                  <a:cubicBezTo>
                    <a:pt x="69469" y="1028700"/>
                    <a:pt x="0" y="959231"/>
                    <a:pt x="0" y="87337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143000" y="790575"/>
            <a:ext cx="1714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SEMINAR ROADMAP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1152525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TABLE OF CONTENTS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3038" y="3805237"/>
            <a:ext cx="714375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57388" y="3810000"/>
            <a:ext cx="3964781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Definition &amp; Purpose of JDBC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3038" y="4762500"/>
            <a:ext cx="771525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4538" y="4767262"/>
            <a:ext cx="4393406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JDBC Connectivity Architecture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3038" y="5812631"/>
            <a:ext cx="78581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28825" y="5817394"/>
            <a:ext cx="3661172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Four Types of JDBC Drivers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43038" y="6803231"/>
            <a:ext cx="77152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4538" y="6807994"/>
            <a:ext cx="3982641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Basic Connectivity Workflow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72638" y="3805237"/>
            <a:ext cx="77152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44138" y="3810000"/>
            <a:ext cx="4071938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Loading &amp; Registering Drivers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72638" y="4762500"/>
            <a:ext cx="75723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29850" y="4767262"/>
            <a:ext cx="3286125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Connection &amp; JDBC URL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72638" y="5719763"/>
            <a:ext cx="77152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44138" y="5724525"/>
            <a:ext cx="5268516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Creating &amp; Executing SQL Statements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72638" y="6677025"/>
            <a:ext cx="77152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244138" y="6681788"/>
            <a:ext cx="4357688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Retrieving Results via ResultSet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72638" y="7634287"/>
            <a:ext cx="71437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09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86988" y="7639050"/>
            <a:ext cx="4911328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Complete Example &amp; Program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3707606"/>
            <a:ext cx="8293894" cy="4286250"/>
            <a:chOff x="0" y="0"/>
            <a:chExt cx="11058525" cy="5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58525" cy="5715000"/>
            </a:xfrm>
            <a:custGeom>
              <a:avLst/>
              <a:gdLst/>
              <a:ahLst/>
              <a:cxnLst/>
              <a:rect l="l" t="t" r="r" b="b"/>
              <a:pathLst>
                <a:path w="11058525" h="5715000">
                  <a:moveTo>
                    <a:pt x="0" y="0"/>
                  </a:moveTo>
                  <a:lnTo>
                    <a:pt x="11058525" y="0"/>
                  </a:lnTo>
                  <a:lnTo>
                    <a:pt x="11058525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F0F7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43000" y="3707606"/>
            <a:ext cx="71438" cy="4286250"/>
            <a:chOff x="0" y="0"/>
            <a:chExt cx="95250" cy="571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250" cy="5715000"/>
            </a:xfrm>
            <a:custGeom>
              <a:avLst/>
              <a:gdLst/>
              <a:ahLst/>
              <a:cxnLst/>
              <a:rect l="l" t="t" r="r" b="b"/>
              <a:pathLst>
                <a:path w="95250" h="5715000">
                  <a:moveTo>
                    <a:pt x="0" y="0"/>
                  </a:moveTo>
                  <a:lnTo>
                    <a:pt x="95250" y="0"/>
                  </a:lnTo>
                  <a:lnTo>
                    <a:pt x="9525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44100" y="4000500"/>
            <a:ext cx="7208044" cy="714375"/>
            <a:chOff x="0" y="0"/>
            <a:chExt cx="9610725" cy="952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10725" cy="952500"/>
            </a:xfrm>
            <a:custGeom>
              <a:avLst/>
              <a:gdLst/>
              <a:ahLst/>
              <a:cxnLst/>
              <a:rect l="l" t="t" r="r" b="b"/>
              <a:pathLst>
                <a:path w="9610725" h="95250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9455277" y="0"/>
                  </a:lnTo>
                  <a:cubicBezTo>
                    <a:pt x="9541129" y="0"/>
                    <a:pt x="9610725" y="69596"/>
                    <a:pt x="9610725" y="155448"/>
                  </a:cubicBezTo>
                  <a:lnTo>
                    <a:pt x="9610725" y="797052"/>
                  </a:lnTo>
                  <a:cubicBezTo>
                    <a:pt x="9610725" y="882904"/>
                    <a:pt x="9541129" y="952500"/>
                    <a:pt x="9455277" y="952500"/>
                  </a:cubicBezTo>
                  <a:lnTo>
                    <a:pt x="155448" y="952500"/>
                  </a:lnTo>
                  <a:cubicBezTo>
                    <a:pt x="69596" y="952500"/>
                    <a:pt x="0" y="882904"/>
                    <a:pt x="0" y="79705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944100" y="4872038"/>
            <a:ext cx="7208044" cy="714375"/>
            <a:chOff x="0" y="0"/>
            <a:chExt cx="9610725" cy="952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10725" cy="952500"/>
            </a:xfrm>
            <a:custGeom>
              <a:avLst/>
              <a:gdLst/>
              <a:ahLst/>
              <a:cxnLst/>
              <a:rect l="l" t="t" r="r" b="b"/>
              <a:pathLst>
                <a:path w="9610725" h="95250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9455277" y="0"/>
                  </a:lnTo>
                  <a:cubicBezTo>
                    <a:pt x="9541129" y="0"/>
                    <a:pt x="9610725" y="69596"/>
                    <a:pt x="9610725" y="155448"/>
                  </a:cubicBezTo>
                  <a:lnTo>
                    <a:pt x="9610725" y="797052"/>
                  </a:lnTo>
                  <a:cubicBezTo>
                    <a:pt x="9610725" y="882904"/>
                    <a:pt x="9541129" y="952500"/>
                    <a:pt x="9455277" y="952500"/>
                  </a:cubicBezTo>
                  <a:lnTo>
                    <a:pt x="155448" y="952500"/>
                  </a:lnTo>
                  <a:cubicBezTo>
                    <a:pt x="69596" y="952500"/>
                    <a:pt x="0" y="882904"/>
                    <a:pt x="0" y="79705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944100" y="5743575"/>
            <a:ext cx="7208044" cy="714375"/>
            <a:chOff x="0" y="0"/>
            <a:chExt cx="9610725" cy="952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10725" cy="952500"/>
            </a:xfrm>
            <a:custGeom>
              <a:avLst/>
              <a:gdLst/>
              <a:ahLst/>
              <a:cxnLst/>
              <a:rect l="l" t="t" r="r" b="b"/>
              <a:pathLst>
                <a:path w="9610725" h="95250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9455277" y="0"/>
                  </a:lnTo>
                  <a:cubicBezTo>
                    <a:pt x="9541129" y="0"/>
                    <a:pt x="9610725" y="69596"/>
                    <a:pt x="9610725" y="155448"/>
                  </a:cubicBezTo>
                  <a:lnTo>
                    <a:pt x="9610725" y="797052"/>
                  </a:lnTo>
                  <a:cubicBezTo>
                    <a:pt x="9610725" y="882904"/>
                    <a:pt x="9541129" y="952500"/>
                    <a:pt x="9455277" y="952500"/>
                  </a:cubicBezTo>
                  <a:lnTo>
                    <a:pt x="155448" y="952500"/>
                  </a:lnTo>
                  <a:cubicBezTo>
                    <a:pt x="69596" y="952500"/>
                    <a:pt x="0" y="882904"/>
                    <a:pt x="0" y="79705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944100" y="6615112"/>
            <a:ext cx="7208044" cy="714375"/>
            <a:chOff x="0" y="0"/>
            <a:chExt cx="9610725" cy="952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10725" cy="952500"/>
            </a:xfrm>
            <a:custGeom>
              <a:avLst/>
              <a:gdLst/>
              <a:ahLst/>
              <a:cxnLst/>
              <a:rect l="l" t="t" r="r" b="b"/>
              <a:pathLst>
                <a:path w="9610725" h="95250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9455277" y="0"/>
                  </a:lnTo>
                  <a:cubicBezTo>
                    <a:pt x="9541129" y="0"/>
                    <a:pt x="9610725" y="69596"/>
                    <a:pt x="9610725" y="155448"/>
                  </a:cubicBezTo>
                  <a:lnTo>
                    <a:pt x="9610725" y="797052"/>
                  </a:lnTo>
                  <a:cubicBezTo>
                    <a:pt x="9610725" y="882904"/>
                    <a:pt x="9541129" y="952500"/>
                    <a:pt x="9455277" y="952500"/>
                  </a:cubicBezTo>
                  <a:lnTo>
                    <a:pt x="155448" y="952500"/>
                  </a:lnTo>
                  <a:cubicBezTo>
                    <a:pt x="69596" y="952500"/>
                    <a:pt x="0" y="882904"/>
                    <a:pt x="0" y="79705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944100" y="7486650"/>
            <a:ext cx="7208044" cy="714375"/>
            <a:chOff x="0" y="0"/>
            <a:chExt cx="9610725" cy="952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10725" cy="952500"/>
            </a:xfrm>
            <a:custGeom>
              <a:avLst/>
              <a:gdLst/>
              <a:ahLst/>
              <a:cxnLst/>
              <a:rect l="l" t="t" r="r" b="b"/>
              <a:pathLst>
                <a:path w="9610725" h="952500">
                  <a:moveTo>
                    <a:pt x="0" y="155448"/>
                  </a:moveTo>
                  <a:cubicBezTo>
                    <a:pt x="0" y="69596"/>
                    <a:pt x="69596" y="0"/>
                    <a:pt x="155448" y="0"/>
                  </a:cubicBezTo>
                  <a:lnTo>
                    <a:pt x="9455277" y="0"/>
                  </a:lnTo>
                  <a:cubicBezTo>
                    <a:pt x="9541129" y="0"/>
                    <a:pt x="9610725" y="69596"/>
                    <a:pt x="9610725" y="155448"/>
                  </a:cubicBezTo>
                  <a:lnTo>
                    <a:pt x="9610725" y="797052"/>
                  </a:lnTo>
                  <a:cubicBezTo>
                    <a:pt x="9610725" y="882904"/>
                    <a:pt x="9541129" y="952500"/>
                    <a:pt x="9455277" y="952500"/>
                  </a:cubicBezTo>
                  <a:lnTo>
                    <a:pt x="155448" y="952500"/>
                  </a:lnTo>
                  <a:cubicBezTo>
                    <a:pt x="69596" y="952500"/>
                    <a:pt x="0" y="882904"/>
                    <a:pt x="0" y="79705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222706" y="4300538"/>
            <a:ext cx="114300" cy="114300"/>
            <a:chOff x="0" y="0"/>
            <a:chExt cx="152400" cy="152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222706" y="5172075"/>
            <a:ext cx="114300" cy="114300"/>
            <a:chOff x="0" y="0"/>
            <a:chExt cx="152400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222706" y="6043612"/>
            <a:ext cx="114300" cy="114300"/>
            <a:chOff x="0" y="0"/>
            <a:chExt cx="152400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222706" y="6915150"/>
            <a:ext cx="114300" cy="114300"/>
            <a:chOff x="0" y="0"/>
            <a:chExt cx="152400" cy="152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222706" y="7786688"/>
            <a:ext cx="114300" cy="114300"/>
            <a:chOff x="0" y="0"/>
            <a:chExt cx="152400" cy="152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143000" y="790575"/>
            <a:ext cx="1714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01 • FOUNDATION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3000" y="1123950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DEFINITION OF JDBC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28788" y="4212431"/>
            <a:ext cx="899219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JAVA DATABASE CONNECTIVITY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8788" y="4660106"/>
            <a:ext cx="7336631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362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JDBC is a Java Application Programming Interface (API) that allows Java programs to access and interact with a Database Management System (DBMS).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8788" y="6717506"/>
            <a:ext cx="733663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JDBC is a standard part of Java SE (Java Standard Edition) and uses JDBC drivers to connect Java applications with databases.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51244" y="3488531"/>
            <a:ext cx="8336756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JDBC PROVIDES STANDARD METHODS FOR: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37031" y="4202906"/>
            <a:ext cx="5822156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Connecting Java applications to a database.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37031" y="5074444"/>
            <a:ext cx="5125641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Executing SQL queries and statements.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37031" y="5945981"/>
            <a:ext cx="3143250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Retrieving query results.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37031" y="6817519"/>
            <a:ext cx="6357938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Performing insert, update and delete operations.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37031" y="7689056"/>
            <a:ext cx="3857625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Executing stored procedures.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5856" y="2019300"/>
            <a:ext cx="7360062" cy="2318147"/>
            <a:chOff x="0" y="0"/>
            <a:chExt cx="9813417" cy="20288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13417" cy="2028825"/>
            </a:xfrm>
            <a:custGeom>
              <a:avLst/>
              <a:gdLst/>
              <a:ahLst/>
              <a:cxnLst/>
              <a:rect l="l" t="t" r="r" b="b"/>
              <a:pathLst>
                <a:path w="9813417" h="2028825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9659620" y="0"/>
                  </a:lnTo>
                  <a:cubicBezTo>
                    <a:pt x="9744583" y="0"/>
                    <a:pt x="9813417" y="68834"/>
                    <a:pt x="9813417" y="153797"/>
                  </a:cubicBezTo>
                  <a:lnTo>
                    <a:pt x="9813417" y="1875028"/>
                  </a:lnTo>
                  <a:cubicBezTo>
                    <a:pt x="9813417" y="1959991"/>
                    <a:pt x="9744583" y="2028825"/>
                    <a:pt x="9659620" y="2028825"/>
                  </a:cubicBezTo>
                  <a:lnTo>
                    <a:pt x="153797" y="2028825"/>
                  </a:lnTo>
                  <a:cubicBezTo>
                    <a:pt x="68834" y="2028825"/>
                    <a:pt x="0" y="1959991"/>
                    <a:pt x="0" y="187502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35856" y="4895066"/>
            <a:ext cx="7360072" cy="2001034"/>
            <a:chOff x="0" y="0"/>
            <a:chExt cx="9813430" cy="1981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813417" cy="1981200"/>
            </a:xfrm>
            <a:custGeom>
              <a:avLst/>
              <a:gdLst/>
              <a:ahLst/>
              <a:cxnLst/>
              <a:rect l="l" t="t" r="r" b="b"/>
              <a:pathLst>
                <a:path w="9813417" h="1981200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9659620" y="0"/>
                  </a:lnTo>
                  <a:cubicBezTo>
                    <a:pt x="9744583" y="0"/>
                    <a:pt x="9813417" y="68834"/>
                    <a:pt x="9813417" y="153797"/>
                  </a:cubicBezTo>
                  <a:lnTo>
                    <a:pt x="9813417" y="1827403"/>
                  </a:lnTo>
                  <a:cubicBezTo>
                    <a:pt x="9813417" y="1912366"/>
                    <a:pt x="9744583" y="1981200"/>
                    <a:pt x="9659620" y="1981200"/>
                  </a:cubicBezTo>
                  <a:lnTo>
                    <a:pt x="153797" y="1981200"/>
                  </a:lnTo>
                  <a:cubicBezTo>
                    <a:pt x="68834" y="1981200"/>
                    <a:pt x="0" y="1912366"/>
                    <a:pt x="0" y="182740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43000" y="7550579"/>
            <a:ext cx="7345785" cy="2050621"/>
            <a:chOff x="0" y="0"/>
            <a:chExt cx="9794380" cy="2400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94367" cy="2400300"/>
            </a:xfrm>
            <a:custGeom>
              <a:avLst/>
              <a:gdLst/>
              <a:ahLst/>
              <a:cxnLst/>
              <a:rect l="l" t="t" r="r" b="b"/>
              <a:pathLst>
                <a:path w="9794367" h="2400300">
                  <a:moveTo>
                    <a:pt x="0" y="0"/>
                  </a:moveTo>
                  <a:lnTo>
                    <a:pt x="9794367" y="0"/>
                  </a:lnTo>
                  <a:lnTo>
                    <a:pt x="9794367" y="2400300"/>
                  </a:lnTo>
                  <a:lnTo>
                    <a:pt x="0" y="240030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43000" y="9586912"/>
            <a:ext cx="7345785" cy="14288"/>
            <a:chOff x="0" y="0"/>
            <a:chExt cx="9794380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94367" cy="19050"/>
            </a:xfrm>
            <a:custGeom>
              <a:avLst/>
              <a:gdLst/>
              <a:ahLst/>
              <a:cxnLst/>
              <a:rect l="l" t="t" r="r" b="b"/>
              <a:pathLst>
                <a:path w="9794367" h="19050">
                  <a:moveTo>
                    <a:pt x="0" y="0"/>
                  </a:moveTo>
                  <a:lnTo>
                    <a:pt x="9794367" y="0"/>
                  </a:lnTo>
                  <a:lnTo>
                    <a:pt x="979436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43000" y="7567612"/>
            <a:ext cx="7345785" cy="14288"/>
            <a:chOff x="0" y="0"/>
            <a:chExt cx="9794380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94367" cy="19050"/>
            </a:xfrm>
            <a:custGeom>
              <a:avLst/>
              <a:gdLst/>
              <a:ahLst/>
              <a:cxnLst/>
              <a:rect l="l" t="t" r="r" b="b"/>
              <a:pathLst>
                <a:path w="9794367" h="19050">
                  <a:moveTo>
                    <a:pt x="0" y="0"/>
                  </a:moveTo>
                  <a:lnTo>
                    <a:pt x="9794367" y="0"/>
                  </a:lnTo>
                  <a:lnTo>
                    <a:pt x="979436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43000" y="7550579"/>
            <a:ext cx="45719" cy="2050621"/>
            <a:chOff x="0" y="0"/>
            <a:chExt cx="76200" cy="2400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0" cy="2400300"/>
            </a:xfrm>
            <a:custGeom>
              <a:avLst/>
              <a:gdLst/>
              <a:ahLst/>
              <a:cxnLst/>
              <a:rect l="l" t="t" r="r" b="b"/>
              <a:pathLst>
                <a:path w="76200" h="2400300">
                  <a:moveTo>
                    <a:pt x="0" y="0"/>
                  </a:moveTo>
                  <a:lnTo>
                    <a:pt x="76200" y="0"/>
                  </a:lnTo>
                  <a:lnTo>
                    <a:pt x="76200" y="2400300"/>
                  </a:lnTo>
                  <a:lnTo>
                    <a:pt x="0" y="24003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474496" y="7567613"/>
            <a:ext cx="45719" cy="2033588"/>
            <a:chOff x="0" y="0"/>
            <a:chExt cx="19050" cy="2400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50" cy="2400300"/>
            </a:xfrm>
            <a:custGeom>
              <a:avLst/>
              <a:gdLst/>
              <a:ahLst/>
              <a:cxnLst/>
              <a:rect l="l" t="t" r="r" b="b"/>
              <a:pathLst>
                <a:path w="19050" h="2400300">
                  <a:moveTo>
                    <a:pt x="0" y="0"/>
                  </a:moveTo>
                  <a:lnTo>
                    <a:pt x="19050" y="0"/>
                  </a:lnTo>
                  <a:lnTo>
                    <a:pt x="19050" y="2400300"/>
                  </a:lnTo>
                  <a:lnTo>
                    <a:pt x="0" y="2400300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443038" y="5738028"/>
            <a:ext cx="967530" cy="657225"/>
            <a:chOff x="0" y="0"/>
            <a:chExt cx="1290041" cy="876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0066" cy="876300"/>
            </a:xfrm>
            <a:custGeom>
              <a:avLst/>
              <a:gdLst/>
              <a:ahLst/>
              <a:cxnLst/>
              <a:rect l="l" t="t" r="r" b="b"/>
              <a:pathLst>
                <a:path w="1290066" h="8763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175766" y="0"/>
                  </a:lnTo>
                  <a:cubicBezTo>
                    <a:pt x="1238885" y="0"/>
                    <a:pt x="1290066" y="51181"/>
                    <a:pt x="1290066" y="114300"/>
                  </a:cubicBezTo>
                  <a:lnTo>
                    <a:pt x="1290066" y="762000"/>
                  </a:lnTo>
                  <a:cubicBezTo>
                    <a:pt x="1290066" y="825119"/>
                    <a:pt x="1238885" y="876300"/>
                    <a:pt x="1175766" y="876300"/>
                  </a:cubicBezTo>
                  <a:lnTo>
                    <a:pt x="114300" y="876300"/>
                  </a:lnTo>
                  <a:cubicBezTo>
                    <a:pt x="51181" y="876300"/>
                    <a:pt x="0" y="825119"/>
                    <a:pt x="0" y="7620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724893" y="5738028"/>
            <a:ext cx="967530" cy="657225"/>
            <a:chOff x="0" y="0"/>
            <a:chExt cx="1290041" cy="876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0066" cy="876300"/>
            </a:xfrm>
            <a:custGeom>
              <a:avLst/>
              <a:gdLst/>
              <a:ahLst/>
              <a:cxnLst/>
              <a:rect l="l" t="t" r="r" b="b"/>
              <a:pathLst>
                <a:path w="1290066" h="8763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175766" y="0"/>
                  </a:lnTo>
                  <a:cubicBezTo>
                    <a:pt x="1238885" y="0"/>
                    <a:pt x="1290066" y="51181"/>
                    <a:pt x="1290066" y="114300"/>
                  </a:cubicBezTo>
                  <a:lnTo>
                    <a:pt x="1290066" y="762000"/>
                  </a:lnTo>
                  <a:cubicBezTo>
                    <a:pt x="1290066" y="825119"/>
                    <a:pt x="1238885" y="876300"/>
                    <a:pt x="1175766" y="876300"/>
                  </a:cubicBezTo>
                  <a:lnTo>
                    <a:pt x="114300" y="876300"/>
                  </a:lnTo>
                  <a:cubicBezTo>
                    <a:pt x="51181" y="876300"/>
                    <a:pt x="0" y="825119"/>
                    <a:pt x="0" y="7620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006748" y="5845185"/>
            <a:ext cx="1500188" cy="442912"/>
            <a:chOff x="0" y="0"/>
            <a:chExt cx="2000250" cy="5905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00250" cy="590550"/>
            </a:xfrm>
            <a:custGeom>
              <a:avLst/>
              <a:gdLst/>
              <a:ahLst/>
              <a:cxnLst/>
              <a:rect l="l" t="t" r="r" b="b"/>
              <a:pathLst>
                <a:path w="2000250" h="5905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885950" y="0"/>
                  </a:lnTo>
                  <a:cubicBezTo>
                    <a:pt x="1949069" y="0"/>
                    <a:pt x="2000250" y="51181"/>
                    <a:pt x="2000250" y="114300"/>
                  </a:cubicBezTo>
                  <a:lnTo>
                    <a:pt x="2000250" y="476250"/>
                  </a:lnTo>
                  <a:cubicBezTo>
                    <a:pt x="2000250" y="539369"/>
                    <a:pt x="1949069" y="590550"/>
                    <a:pt x="1885950" y="590550"/>
                  </a:cubicBezTo>
                  <a:lnTo>
                    <a:pt x="114300" y="590550"/>
                  </a:lnTo>
                  <a:cubicBezTo>
                    <a:pt x="51181" y="590550"/>
                    <a:pt x="0" y="539369"/>
                    <a:pt x="0" y="47625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821261" y="5738028"/>
            <a:ext cx="967530" cy="657225"/>
            <a:chOff x="0" y="0"/>
            <a:chExt cx="1290041" cy="876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90066" cy="876300"/>
            </a:xfrm>
            <a:custGeom>
              <a:avLst/>
              <a:gdLst/>
              <a:ahLst/>
              <a:cxnLst/>
              <a:rect l="l" t="t" r="r" b="b"/>
              <a:pathLst>
                <a:path w="1290066" h="8763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175766" y="0"/>
                  </a:lnTo>
                  <a:cubicBezTo>
                    <a:pt x="1238885" y="0"/>
                    <a:pt x="1290066" y="51181"/>
                    <a:pt x="1290066" y="114300"/>
                  </a:cubicBezTo>
                  <a:lnTo>
                    <a:pt x="1290066" y="762000"/>
                  </a:lnTo>
                  <a:cubicBezTo>
                    <a:pt x="1290066" y="825119"/>
                    <a:pt x="1238885" y="876300"/>
                    <a:pt x="1175766" y="876300"/>
                  </a:cubicBezTo>
                  <a:lnTo>
                    <a:pt x="114300" y="876300"/>
                  </a:lnTo>
                  <a:cubicBezTo>
                    <a:pt x="51181" y="876300"/>
                    <a:pt x="0" y="825119"/>
                    <a:pt x="0" y="7620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103116" y="5784854"/>
            <a:ext cx="1085850" cy="442912"/>
            <a:chOff x="0" y="0"/>
            <a:chExt cx="1447800" cy="5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47800" cy="590550"/>
            </a:xfrm>
            <a:custGeom>
              <a:avLst/>
              <a:gdLst/>
              <a:ahLst/>
              <a:cxnLst/>
              <a:rect l="l" t="t" r="r" b="b"/>
              <a:pathLst>
                <a:path w="1447800" h="5905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333500" y="0"/>
                  </a:lnTo>
                  <a:cubicBezTo>
                    <a:pt x="1396619" y="0"/>
                    <a:pt x="1447800" y="51181"/>
                    <a:pt x="1447800" y="114300"/>
                  </a:cubicBezTo>
                  <a:lnTo>
                    <a:pt x="1447800" y="476250"/>
                  </a:lnTo>
                  <a:cubicBezTo>
                    <a:pt x="1447800" y="539369"/>
                    <a:pt x="1396619" y="590550"/>
                    <a:pt x="1333500" y="590550"/>
                  </a:cubicBezTo>
                  <a:lnTo>
                    <a:pt x="114300" y="590550"/>
                  </a:lnTo>
                  <a:cubicBezTo>
                    <a:pt x="51181" y="590550"/>
                    <a:pt x="0" y="539369"/>
                    <a:pt x="0" y="47625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8945985" y="1857375"/>
            <a:ext cx="8199015" cy="7743825"/>
            <a:chOff x="0" y="0"/>
            <a:chExt cx="10932020" cy="103251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10932033" cy="10325100"/>
            </a:xfrm>
            <a:custGeom>
              <a:avLst/>
              <a:gdLst/>
              <a:ahLst/>
              <a:cxnLst/>
              <a:rect l="l" t="t" r="r" b="b"/>
              <a:pathLst>
                <a:path w="10932033" h="10325100">
                  <a:moveTo>
                    <a:pt x="0" y="0"/>
                  </a:moveTo>
                  <a:lnTo>
                    <a:pt x="10932033" y="0"/>
                  </a:lnTo>
                  <a:lnTo>
                    <a:pt x="10932033" y="10325100"/>
                  </a:lnTo>
                  <a:lnTo>
                    <a:pt x="0" y="1032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" r="-12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9188872" y="2300288"/>
            <a:ext cx="7713240" cy="6858000"/>
            <a:chOff x="0" y="0"/>
            <a:chExt cx="10284320" cy="9144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84333" cy="9144000"/>
            </a:xfrm>
            <a:custGeom>
              <a:avLst/>
              <a:gdLst/>
              <a:ahLst/>
              <a:cxnLst/>
              <a:rect l="l" t="t" r="r" b="b"/>
              <a:pathLst>
                <a:path w="10284333" h="9144000">
                  <a:moveTo>
                    <a:pt x="0" y="0"/>
                  </a:moveTo>
                  <a:lnTo>
                    <a:pt x="10284333" y="0"/>
                  </a:lnTo>
                  <a:lnTo>
                    <a:pt x="10284333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44" r="-4744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2496293" y="5988060"/>
            <a:ext cx="142875" cy="157162"/>
            <a:chOff x="0" y="0"/>
            <a:chExt cx="190500" cy="20955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3" r="-420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3778148" y="5988060"/>
            <a:ext cx="142875" cy="157162"/>
            <a:chOff x="0" y="0"/>
            <a:chExt cx="190500" cy="20955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13" r="-420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5592661" y="5988060"/>
            <a:ext cx="142875" cy="157162"/>
            <a:chOff x="0" y="0"/>
            <a:chExt cx="190500" cy="20955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13" r="-420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6874516" y="5988060"/>
            <a:ext cx="142875" cy="157162"/>
            <a:chOff x="0" y="0"/>
            <a:chExt cx="190500" cy="209550"/>
          </a:xfrm>
        </p:grpSpPr>
        <p:sp>
          <p:nvSpPr>
            <p:cNvPr id="37" name="Freeform 37" descr="image.png"/>
            <p:cNvSpPr/>
            <p:nvPr/>
          </p:nvSpPr>
          <p:spPr>
            <a:xfrm>
              <a:off x="0" y="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190500" y="0"/>
                  </a:lnTo>
                  <a:lnTo>
                    <a:pt x="19050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3" r="-420"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143000" y="676275"/>
            <a:ext cx="1714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02 • ARCHITECTURE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3000" y="971550"/>
            <a:ext cx="171450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JDBC CONNECTIVITY MODEL &amp; ARCHITECTURE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93043" y="2560529"/>
            <a:ext cx="6831435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000" dirty="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The JDBC connectivity model provides a standard mechanism through which a Java application communicates with a database using the JDBC API and a database-specific JDBC driver.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3038" y="5121279"/>
            <a:ext cx="8432140" cy="212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2000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BASIC CONNECTIVITY MODEL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14475" y="7886700"/>
            <a:ext cx="8722481" cy="26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2400" b="1" dirty="0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ROLE OF THE JDBC DRIVER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14475" y="8372475"/>
            <a:ext cx="6788572" cy="89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62"/>
              </a:lnSpc>
            </a:pPr>
            <a:r>
              <a:rPr lang="en-US" dirty="0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The JDBC driver translates Java/JDBC calls into database-specific calls and handles communication between the Java application and the database server.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1600" y="5833278"/>
            <a:ext cx="111040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Java </a:t>
            </a:r>
          </a:p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App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653455" y="5833278"/>
            <a:ext cx="111040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JDBC </a:t>
            </a:r>
          </a:p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API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935311" y="5940435"/>
            <a:ext cx="1643062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DriverManager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49823" y="5833278"/>
            <a:ext cx="111040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JDBC </a:t>
            </a:r>
          </a:p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Driver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31679" y="5900738"/>
            <a:ext cx="1228725" cy="23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33927" y="3771900"/>
            <a:ext cx="14288" cy="792956"/>
            <a:chOff x="0" y="0"/>
            <a:chExt cx="19050" cy="1057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50" cy="1057275"/>
            </a:xfrm>
            <a:custGeom>
              <a:avLst/>
              <a:gdLst/>
              <a:ahLst/>
              <a:cxnLst/>
              <a:rect l="l" t="t" r="r" b="b"/>
              <a:pathLst>
                <a:path w="19050" h="1057275">
                  <a:moveTo>
                    <a:pt x="0" y="0"/>
                  </a:moveTo>
                  <a:lnTo>
                    <a:pt x="19050" y="0"/>
                  </a:lnTo>
                  <a:lnTo>
                    <a:pt x="19050" y="1057275"/>
                  </a:lnTo>
                  <a:lnTo>
                    <a:pt x="0" y="10572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29493" y="3771900"/>
            <a:ext cx="14288" cy="792956"/>
            <a:chOff x="0" y="0"/>
            <a:chExt cx="19050" cy="10572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50" cy="1057275"/>
            </a:xfrm>
            <a:custGeom>
              <a:avLst/>
              <a:gdLst/>
              <a:ahLst/>
              <a:cxnLst/>
              <a:rect l="l" t="t" r="r" b="b"/>
              <a:pathLst>
                <a:path w="19050" h="1057275">
                  <a:moveTo>
                    <a:pt x="0" y="0"/>
                  </a:moveTo>
                  <a:lnTo>
                    <a:pt x="19050" y="0"/>
                  </a:lnTo>
                  <a:lnTo>
                    <a:pt x="19050" y="1057275"/>
                  </a:lnTo>
                  <a:lnTo>
                    <a:pt x="0" y="10572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533927" y="4564856"/>
            <a:ext cx="14288" cy="821531"/>
            <a:chOff x="0" y="0"/>
            <a:chExt cx="19050" cy="10953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50" cy="1095375"/>
            </a:xfrm>
            <a:custGeom>
              <a:avLst/>
              <a:gdLst/>
              <a:ahLst/>
              <a:cxnLst/>
              <a:rect l="l" t="t" r="r" b="b"/>
              <a:pathLst>
                <a:path w="19050" h="1095375">
                  <a:moveTo>
                    <a:pt x="0" y="0"/>
                  </a:moveTo>
                  <a:lnTo>
                    <a:pt x="19050" y="0"/>
                  </a:lnTo>
                  <a:lnTo>
                    <a:pt x="19050" y="1095375"/>
                  </a:lnTo>
                  <a:lnTo>
                    <a:pt x="0" y="109537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29493" y="4564856"/>
            <a:ext cx="14288" cy="821531"/>
            <a:chOff x="0" y="0"/>
            <a:chExt cx="19050" cy="10953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50" cy="1095375"/>
            </a:xfrm>
            <a:custGeom>
              <a:avLst/>
              <a:gdLst/>
              <a:ahLst/>
              <a:cxnLst/>
              <a:rect l="l" t="t" r="r" b="b"/>
              <a:pathLst>
                <a:path w="19050" h="1095375">
                  <a:moveTo>
                    <a:pt x="0" y="0"/>
                  </a:moveTo>
                  <a:lnTo>
                    <a:pt x="19050" y="0"/>
                  </a:lnTo>
                  <a:lnTo>
                    <a:pt x="19050" y="1095375"/>
                  </a:lnTo>
                  <a:lnTo>
                    <a:pt x="0" y="109537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533927" y="5386388"/>
            <a:ext cx="14288" cy="828675"/>
            <a:chOff x="0" y="0"/>
            <a:chExt cx="19050" cy="1104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050" cy="1104900"/>
            </a:xfrm>
            <a:custGeom>
              <a:avLst/>
              <a:gdLst/>
              <a:ahLst/>
              <a:cxnLst/>
              <a:rect l="l" t="t" r="r" b="b"/>
              <a:pathLst>
                <a:path w="19050" h="1104900">
                  <a:moveTo>
                    <a:pt x="0" y="0"/>
                  </a:moveTo>
                  <a:lnTo>
                    <a:pt x="19050" y="0"/>
                  </a:lnTo>
                  <a:lnTo>
                    <a:pt x="190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29493" y="5386388"/>
            <a:ext cx="14288" cy="828675"/>
            <a:chOff x="0" y="0"/>
            <a:chExt cx="19050" cy="1104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50" cy="1104900"/>
            </a:xfrm>
            <a:custGeom>
              <a:avLst/>
              <a:gdLst/>
              <a:ahLst/>
              <a:cxnLst/>
              <a:rect l="l" t="t" r="r" b="b"/>
              <a:pathLst>
                <a:path w="19050" h="1104900">
                  <a:moveTo>
                    <a:pt x="0" y="0"/>
                  </a:moveTo>
                  <a:lnTo>
                    <a:pt x="19050" y="0"/>
                  </a:lnTo>
                  <a:lnTo>
                    <a:pt x="190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533927" y="6215062"/>
            <a:ext cx="14288" cy="828675"/>
            <a:chOff x="0" y="0"/>
            <a:chExt cx="19050" cy="11049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50" cy="1104900"/>
            </a:xfrm>
            <a:custGeom>
              <a:avLst/>
              <a:gdLst/>
              <a:ahLst/>
              <a:cxnLst/>
              <a:rect l="l" t="t" r="r" b="b"/>
              <a:pathLst>
                <a:path w="19050" h="1104900">
                  <a:moveTo>
                    <a:pt x="0" y="0"/>
                  </a:moveTo>
                  <a:lnTo>
                    <a:pt x="19050" y="0"/>
                  </a:lnTo>
                  <a:lnTo>
                    <a:pt x="190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129493" y="6215062"/>
            <a:ext cx="14288" cy="828675"/>
            <a:chOff x="0" y="0"/>
            <a:chExt cx="19050" cy="1104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050" cy="1104900"/>
            </a:xfrm>
            <a:custGeom>
              <a:avLst/>
              <a:gdLst/>
              <a:ahLst/>
              <a:cxnLst/>
              <a:rect l="l" t="t" r="r" b="b"/>
              <a:pathLst>
                <a:path w="19050" h="1104900">
                  <a:moveTo>
                    <a:pt x="0" y="0"/>
                  </a:moveTo>
                  <a:lnTo>
                    <a:pt x="19050" y="0"/>
                  </a:lnTo>
                  <a:lnTo>
                    <a:pt x="190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533927" y="7043738"/>
            <a:ext cx="14288" cy="828675"/>
            <a:chOff x="0" y="0"/>
            <a:chExt cx="19050" cy="11049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50" cy="1104900"/>
            </a:xfrm>
            <a:custGeom>
              <a:avLst/>
              <a:gdLst/>
              <a:ahLst/>
              <a:cxnLst/>
              <a:rect l="l" t="t" r="r" b="b"/>
              <a:pathLst>
                <a:path w="19050" h="1104900">
                  <a:moveTo>
                    <a:pt x="0" y="0"/>
                  </a:moveTo>
                  <a:lnTo>
                    <a:pt x="19050" y="0"/>
                  </a:lnTo>
                  <a:lnTo>
                    <a:pt x="190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129493" y="7043738"/>
            <a:ext cx="14288" cy="828675"/>
            <a:chOff x="0" y="0"/>
            <a:chExt cx="19050" cy="1104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050" cy="1104900"/>
            </a:xfrm>
            <a:custGeom>
              <a:avLst/>
              <a:gdLst/>
              <a:ahLst/>
              <a:cxnLst/>
              <a:rect l="l" t="t" r="r" b="b"/>
              <a:pathLst>
                <a:path w="19050" h="1104900">
                  <a:moveTo>
                    <a:pt x="0" y="0"/>
                  </a:moveTo>
                  <a:lnTo>
                    <a:pt x="19050" y="0"/>
                  </a:lnTo>
                  <a:lnTo>
                    <a:pt x="190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35856" y="3757612"/>
            <a:ext cx="16016288" cy="4129088"/>
            <a:chOff x="0" y="0"/>
            <a:chExt cx="21355050" cy="55054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355050" cy="5505450"/>
            </a:xfrm>
            <a:custGeom>
              <a:avLst/>
              <a:gdLst/>
              <a:ahLst/>
              <a:cxnLst/>
              <a:rect l="l" t="t" r="r" b="b"/>
              <a:pathLst>
                <a:path w="21355050" h="5505450">
                  <a:moveTo>
                    <a:pt x="0" y="0"/>
                  </a:moveTo>
                  <a:lnTo>
                    <a:pt x="21355050" y="0"/>
                  </a:lnTo>
                  <a:lnTo>
                    <a:pt x="21355050" y="5505450"/>
                  </a:lnTo>
                  <a:lnTo>
                    <a:pt x="0" y="550545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id="24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53542"/>
              </p:ext>
            </p:extLst>
          </p:nvPr>
        </p:nvGraphicFramePr>
        <p:xfrm>
          <a:off x="914401" y="2628900"/>
          <a:ext cx="16237744" cy="6534150"/>
        </p:xfrm>
        <a:graphic>
          <a:graphicData uri="http://schemas.openxmlformats.org/drawingml/2006/table">
            <a:tbl>
              <a:tblPr/>
              <a:tblGrid>
                <a:gridCol w="2435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6830">
                <a:tc>
                  <a:txBody>
                    <a:bodyPr/>
                    <a:lstStyle/>
                    <a:p>
                      <a:pPr algn="ctr">
                        <a:lnSpc>
                          <a:spcPts val="2025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Type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5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Driver Name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5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Description &amp; Mechanism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83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2563E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Type 1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JDBC-ODBC Bridge</a:t>
                      </a:r>
                      <a:endParaRPr lang="en-US" sz="16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25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Uses ODBC as a bridge between JDBC and database.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83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2563E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Type 2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Native-API / Partly Java</a:t>
                      </a:r>
                      <a:endParaRPr lang="en-US" sz="16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Uses Java Native Interface (JNI) and native database libraries.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83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2563E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Type 3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All Java / Net-Protocol</a:t>
                      </a:r>
                      <a:endParaRPr lang="en-US" sz="16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25"/>
                        </a:lnSpc>
                        <a:defRPr/>
                      </a:pPr>
                      <a:r>
                        <a:rPr lang="en-US" sz="240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Uses JDBC middleware and network protocol.</a:t>
                      </a:r>
                      <a:endParaRPr lang="en-US" sz="16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83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2800" b="1" dirty="0">
                          <a:solidFill>
                            <a:srgbClr val="2563E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Type 4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All Java / Native-Protocol</a:t>
                      </a:r>
                      <a:endParaRPr lang="en-US" sz="16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Pure Java driver that communicates directly with the database.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5"/>
          <p:cNvSpPr txBox="1"/>
          <p:nvPr/>
        </p:nvSpPr>
        <p:spPr>
          <a:xfrm>
            <a:off x="1143000" y="790575"/>
            <a:ext cx="171450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03 • DRIVER CLASSIFICATION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3000" y="1123950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FOUR TYPES OF JDBC DRIVERS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0020" y="3137668"/>
            <a:ext cx="17314419" cy="5671424"/>
            <a:chOff x="0" y="0"/>
            <a:chExt cx="4560176" cy="1493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0176" cy="1493708"/>
            </a:xfrm>
            <a:custGeom>
              <a:avLst/>
              <a:gdLst/>
              <a:ahLst/>
              <a:cxnLst/>
              <a:rect l="l" t="t" r="r" b="b"/>
              <a:pathLst>
                <a:path w="4560176" h="1493708">
                  <a:moveTo>
                    <a:pt x="0" y="0"/>
                  </a:moveTo>
                  <a:lnTo>
                    <a:pt x="4560176" y="0"/>
                  </a:lnTo>
                  <a:lnTo>
                    <a:pt x="4560176" y="1493708"/>
                  </a:lnTo>
                  <a:lnTo>
                    <a:pt x="0" y="1493708"/>
                  </a:lnTo>
                  <a:close/>
                </a:path>
              </a:pathLst>
            </a:custGeom>
            <a:solidFill>
              <a:srgbClr val="BFDBF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560176" cy="1503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3000" y="4362433"/>
            <a:ext cx="3040332" cy="2658292"/>
            <a:chOff x="0" y="0"/>
            <a:chExt cx="4053776" cy="31200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53840" cy="3120009"/>
            </a:xfrm>
            <a:custGeom>
              <a:avLst/>
              <a:gdLst/>
              <a:ahLst/>
              <a:cxnLst/>
              <a:rect l="l" t="t" r="r" b="b"/>
              <a:pathLst>
                <a:path w="4053840" h="312000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01440" y="0"/>
                  </a:lnTo>
                  <a:cubicBezTo>
                    <a:pt x="3985641" y="0"/>
                    <a:pt x="4053840" y="68199"/>
                    <a:pt x="4053840" y="152400"/>
                  </a:cubicBezTo>
                  <a:lnTo>
                    <a:pt x="4053840" y="2967609"/>
                  </a:lnTo>
                  <a:cubicBezTo>
                    <a:pt x="4053840" y="3051810"/>
                    <a:pt x="3985641" y="3120009"/>
                    <a:pt x="3901440" y="3120009"/>
                  </a:cubicBezTo>
                  <a:lnTo>
                    <a:pt x="152400" y="3120009"/>
                  </a:lnTo>
                  <a:cubicBezTo>
                    <a:pt x="68199" y="3120009"/>
                    <a:pt x="0" y="3051810"/>
                    <a:pt x="0" y="29676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383357" y="4362433"/>
            <a:ext cx="3040332" cy="2658292"/>
            <a:chOff x="0" y="0"/>
            <a:chExt cx="4053776" cy="31200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3840" cy="3120009"/>
            </a:xfrm>
            <a:custGeom>
              <a:avLst/>
              <a:gdLst/>
              <a:ahLst/>
              <a:cxnLst/>
              <a:rect l="l" t="t" r="r" b="b"/>
              <a:pathLst>
                <a:path w="4053840" h="312000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01440" y="0"/>
                  </a:lnTo>
                  <a:cubicBezTo>
                    <a:pt x="3985641" y="0"/>
                    <a:pt x="4053840" y="68199"/>
                    <a:pt x="4053840" y="152400"/>
                  </a:cubicBezTo>
                  <a:lnTo>
                    <a:pt x="4053840" y="2967609"/>
                  </a:lnTo>
                  <a:cubicBezTo>
                    <a:pt x="4053840" y="3051810"/>
                    <a:pt x="3985641" y="3120009"/>
                    <a:pt x="3901440" y="3120009"/>
                  </a:cubicBezTo>
                  <a:lnTo>
                    <a:pt x="152400" y="3120009"/>
                  </a:lnTo>
                  <a:cubicBezTo>
                    <a:pt x="68199" y="3120009"/>
                    <a:pt x="0" y="3051810"/>
                    <a:pt x="0" y="29676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623724" y="4362433"/>
            <a:ext cx="3040332" cy="2658292"/>
            <a:chOff x="0" y="0"/>
            <a:chExt cx="4053776" cy="31200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53840" cy="3120009"/>
            </a:xfrm>
            <a:custGeom>
              <a:avLst/>
              <a:gdLst/>
              <a:ahLst/>
              <a:cxnLst/>
              <a:rect l="l" t="t" r="r" b="b"/>
              <a:pathLst>
                <a:path w="4053840" h="312000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01440" y="0"/>
                  </a:lnTo>
                  <a:cubicBezTo>
                    <a:pt x="3985641" y="0"/>
                    <a:pt x="4053840" y="68199"/>
                    <a:pt x="4053840" y="152400"/>
                  </a:cubicBezTo>
                  <a:lnTo>
                    <a:pt x="4053840" y="2967609"/>
                  </a:lnTo>
                  <a:cubicBezTo>
                    <a:pt x="4053840" y="3051810"/>
                    <a:pt x="3985641" y="3120009"/>
                    <a:pt x="3901440" y="3120009"/>
                  </a:cubicBezTo>
                  <a:lnTo>
                    <a:pt x="152400" y="3120009"/>
                  </a:lnTo>
                  <a:cubicBezTo>
                    <a:pt x="68199" y="3120009"/>
                    <a:pt x="0" y="3051810"/>
                    <a:pt x="0" y="29676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864082" y="4362433"/>
            <a:ext cx="3040332" cy="2658292"/>
            <a:chOff x="0" y="0"/>
            <a:chExt cx="4053776" cy="3120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53840" cy="3120009"/>
            </a:xfrm>
            <a:custGeom>
              <a:avLst/>
              <a:gdLst/>
              <a:ahLst/>
              <a:cxnLst/>
              <a:rect l="l" t="t" r="r" b="b"/>
              <a:pathLst>
                <a:path w="4053840" h="312000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01440" y="0"/>
                  </a:lnTo>
                  <a:cubicBezTo>
                    <a:pt x="3985641" y="0"/>
                    <a:pt x="4053840" y="68199"/>
                    <a:pt x="4053840" y="152400"/>
                  </a:cubicBezTo>
                  <a:lnTo>
                    <a:pt x="4053840" y="2967609"/>
                  </a:lnTo>
                  <a:cubicBezTo>
                    <a:pt x="4053840" y="3051810"/>
                    <a:pt x="3985641" y="3120009"/>
                    <a:pt x="3901440" y="3120009"/>
                  </a:cubicBezTo>
                  <a:lnTo>
                    <a:pt x="152400" y="3120009"/>
                  </a:lnTo>
                  <a:cubicBezTo>
                    <a:pt x="68199" y="3120009"/>
                    <a:pt x="0" y="3051810"/>
                    <a:pt x="0" y="29676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104439" y="4362433"/>
            <a:ext cx="3040332" cy="2658292"/>
            <a:chOff x="0" y="0"/>
            <a:chExt cx="4053776" cy="31200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53840" cy="3120009"/>
            </a:xfrm>
            <a:custGeom>
              <a:avLst/>
              <a:gdLst/>
              <a:ahLst/>
              <a:cxnLst/>
              <a:rect l="l" t="t" r="r" b="b"/>
              <a:pathLst>
                <a:path w="4053840" h="312000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01440" y="0"/>
                  </a:lnTo>
                  <a:cubicBezTo>
                    <a:pt x="3985641" y="0"/>
                    <a:pt x="4053840" y="68199"/>
                    <a:pt x="4053840" y="152400"/>
                  </a:cubicBezTo>
                  <a:lnTo>
                    <a:pt x="4053840" y="2967609"/>
                  </a:lnTo>
                  <a:cubicBezTo>
                    <a:pt x="4053840" y="3051810"/>
                    <a:pt x="3985641" y="3120009"/>
                    <a:pt x="3901440" y="3120009"/>
                  </a:cubicBezTo>
                  <a:lnTo>
                    <a:pt x="152400" y="3120009"/>
                  </a:lnTo>
                  <a:cubicBezTo>
                    <a:pt x="68199" y="3120009"/>
                    <a:pt x="0" y="3051810"/>
                    <a:pt x="0" y="29676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43000" y="7006457"/>
            <a:ext cx="3040332" cy="14288"/>
            <a:chOff x="0" y="0"/>
            <a:chExt cx="4053776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53840" cy="19050"/>
            </a:xfrm>
            <a:custGeom>
              <a:avLst/>
              <a:gdLst/>
              <a:ahLst/>
              <a:cxnLst/>
              <a:rect l="l" t="t" r="r" b="b"/>
              <a:pathLst>
                <a:path w="4053840" h="19050">
                  <a:moveTo>
                    <a:pt x="0" y="0"/>
                  </a:moveTo>
                  <a:lnTo>
                    <a:pt x="4053840" y="0"/>
                  </a:lnTo>
                  <a:lnTo>
                    <a:pt x="40538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43000" y="4305300"/>
            <a:ext cx="3040332" cy="57150"/>
            <a:chOff x="0" y="0"/>
            <a:chExt cx="4053776" cy="76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53840" cy="76200"/>
            </a:xfrm>
            <a:custGeom>
              <a:avLst/>
              <a:gdLst/>
              <a:ahLst/>
              <a:cxnLst/>
              <a:rect l="l" t="t" r="r" b="b"/>
              <a:pathLst>
                <a:path w="4053840" h="76200">
                  <a:moveTo>
                    <a:pt x="0" y="0"/>
                  </a:moveTo>
                  <a:lnTo>
                    <a:pt x="4053840" y="0"/>
                  </a:lnTo>
                  <a:lnTo>
                    <a:pt x="40538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143000" y="4680718"/>
            <a:ext cx="14288" cy="2340026"/>
            <a:chOff x="0" y="0"/>
            <a:chExt cx="19050" cy="31200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4169045" y="4680718"/>
            <a:ext cx="14288" cy="2340026"/>
            <a:chOff x="0" y="0"/>
            <a:chExt cx="19050" cy="31200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4383357" y="7006457"/>
            <a:ext cx="3040332" cy="14288"/>
            <a:chOff x="0" y="0"/>
            <a:chExt cx="4053776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53840" cy="19050"/>
            </a:xfrm>
            <a:custGeom>
              <a:avLst/>
              <a:gdLst/>
              <a:ahLst/>
              <a:cxnLst/>
              <a:rect l="l" t="t" r="r" b="b"/>
              <a:pathLst>
                <a:path w="4053840" h="19050">
                  <a:moveTo>
                    <a:pt x="0" y="0"/>
                  </a:moveTo>
                  <a:lnTo>
                    <a:pt x="4053840" y="0"/>
                  </a:lnTo>
                  <a:lnTo>
                    <a:pt x="40538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4383357" y="4305300"/>
            <a:ext cx="3040332" cy="57150"/>
            <a:chOff x="0" y="0"/>
            <a:chExt cx="4053776" cy="76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53840" cy="76200"/>
            </a:xfrm>
            <a:custGeom>
              <a:avLst/>
              <a:gdLst/>
              <a:ahLst/>
              <a:cxnLst/>
              <a:rect l="l" t="t" r="r" b="b"/>
              <a:pathLst>
                <a:path w="4053840" h="76200">
                  <a:moveTo>
                    <a:pt x="0" y="0"/>
                  </a:moveTo>
                  <a:lnTo>
                    <a:pt x="4053840" y="0"/>
                  </a:lnTo>
                  <a:lnTo>
                    <a:pt x="40538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383357" y="4680718"/>
            <a:ext cx="14288" cy="2340026"/>
            <a:chOff x="0" y="0"/>
            <a:chExt cx="19050" cy="31200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409412" y="4680718"/>
            <a:ext cx="14288" cy="2340026"/>
            <a:chOff x="0" y="0"/>
            <a:chExt cx="19050" cy="312003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623724" y="7006457"/>
            <a:ext cx="3040332" cy="14288"/>
            <a:chOff x="0" y="0"/>
            <a:chExt cx="4053776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53840" cy="19050"/>
            </a:xfrm>
            <a:custGeom>
              <a:avLst/>
              <a:gdLst/>
              <a:ahLst/>
              <a:cxnLst/>
              <a:rect l="l" t="t" r="r" b="b"/>
              <a:pathLst>
                <a:path w="4053840" h="19050">
                  <a:moveTo>
                    <a:pt x="0" y="0"/>
                  </a:moveTo>
                  <a:lnTo>
                    <a:pt x="4053840" y="0"/>
                  </a:lnTo>
                  <a:lnTo>
                    <a:pt x="40538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7623724" y="4305300"/>
            <a:ext cx="3040332" cy="57150"/>
            <a:chOff x="0" y="0"/>
            <a:chExt cx="4053776" cy="76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053840" cy="76200"/>
            </a:xfrm>
            <a:custGeom>
              <a:avLst/>
              <a:gdLst/>
              <a:ahLst/>
              <a:cxnLst/>
              <a:rect l="l" t="t" r="r" b="b"/>
              <a:pathLst>
                <a:path w="4053840" h="76200">
                  <a:moveTo>
                    <a:pt x="0" y="0"/>
                  </a:moveTo>
                  <a:lnTo>
                    <a:pt x="4053840" y="0"/>
                  </a:lnTo>
                  <a:lnTo>
                    <a:pt x="40538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623724" y="4680718"/>
            <a:ext cx="14288" cy="2340026"/>
            <a:chOff x="0" y="0"/>
            <a:chExt cx="19050" cy="312003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649769" y="4680718"/>
            <a:ext cx="14288" cy="2340026"/>
            <a:chOff x="0" y="0"/>
            <a:chExt cx="19050" cy="31200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0864082" y="7006457"/>
            <a:ext cx="3040332" cy="14288"/>
            <a:chOff x="0" y="0"/>
            <a:chExt cx="4053776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053840" cy="19050"/>
            </a:xfrm>
            <a:custGeom>
              <a:avLst/>
              <a:gdLst/>
              <a:ahLst/>
              <a:cxnLst/>
              <a:rect l="l" t="t" r="r" b="b"/>
              <a:pathLst>
                <a:path w="4053840" h="19050">
                  <a:moveTo>
                    <a:pt x="0" y="0"/>
                  </a:moveTo>
                  <a:lnTo>
                    <a:pt x="4053840" y="0"/>
                  </a:lnTo>
                  <a:lnTo>
                    <a:pt x="40538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864082" y="4305300"/>
            <a:ext cx="3040332" cy="57150"/>
            <a:chOff x="0" y="0"/>
            <a:chExt cx="4053776" cy="76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53840" cy="76200"/>
            </a:xfrm>
            <a:custGeom>
              <a:avLst/>
              <a:gdLst/>
              <a:ahLst/>
              <a:cxnLst/>
              <a:rect l="l" t="t" r="r" b="b"/>
              <a:pathLst>
                <a:path w="4053840" h="76200">
                  <a:moveTo>
                    <a:pt x="0" y="0"/>
                  </a:moveTo>
                  <a:lnTo>
                    <a:pt x="4053840" y="0"/>
                  </a:lnTo>
                  <a:lnTo>
                    <a:pt x="40538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0864082" y="4680718"/>
            <a:ext cx="14288" cy="2340026"/>
            <a:chOff x="0" y="0"/>
            <a:chExt cx="19050" cy="312003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3890127" y="4680718"/>
            <a:ext cx="14288" cy="2340026"/>
            <a:chOff x="0" y="0"/>
            <a:chExt cx="19050" cy="312003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4104439" y="7006457"/>
            <a:ext cx="3040332" cy="14288"/>
            <a:chOff x="0" y="0"/>
            <a:chExt cx="4053776" cy="1905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053840" cy="19050"/>
            </a:xfrm>
            <a:custGeom>
              <a:avLst/>
              <a:gdLst/>
              <a:ahLst/>
              <a:cxnLst/>
              <a:rect l="l" t="t" r="r" b="b"/>
              <a:pathLst>
                <a:path w="4053840" h="19050">
                  <a:moveTo>
                    <a:pt x="0" y="0"/>
                  </a:moveTo>
                  <a:lnTo>
                    <a:pt x="4053840" y="0"/>
                  </a:lnTo>
                  <a:lnTo>
                    <a:pt x="405384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4104439" y="4305300"/>
            <a:ext cx="3040332" cy="57150"/>
            <a:chOff x="0" y="0"/>
            <a:chExt cx="4053776" cy="76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053840" cy="76200"/>
            </a:xfrm>
            <a:custGeom>
              <a:avLst/>
              <a:gdLst/>
              <a:ahLst/>
              <a:cxnLst/>
              <a:rect l="l" t="t" r="r" b="b"/>
              <a:pathLst>
                <a:path w="4053840" h="76200">
                  <a:moveTo>
                    <a:pt x="0" y="0"/>
                  </a:moveTo>
                  <a:lnTo>
                    <a:pt x="4053840" y="0"/>
                  </a:lnTo>
                  <a:lnTo>
                    <a:pt x="40538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4104439" y="4680718"/>
            <a:ext cx="14288" cy="2340026"/>
            <a:chOff x="0" y="0"/>
            <a:chExt cx="19050" cy="312003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7130493" y="4680718"/>
            <a:ext cx="14288" cy="2340026"/>
            <a:chOff x="0" y="0"/>
            <a:chExt cx="19050" cy="312003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050" cy="3120009"/>
            </a:xfrm>
            <a:custGeom>
              <a:avLst/>
              <a:gdLst/>
              <a:ahLst/>
              <a:cxnLst/>
              <a:rect l="l" t="t" r="r" b="b"/>
              <a:pathLst>
                <a:path w="19050" h="3120009">
                  <a:moveTo>
                    <a:pt x="0" y="0"/>
                  </a:moveTo>
                  <a:lnTo>
                    <a:pt x="19050" y="0"/>
                  </a:lnTo>
                  <a:lnTo>
                    <a:pt x="19050" y="3120009"/>
                  </a:lnTo>
                  <a:lnTo>
                    <a:pt x="0" y="31200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1143000" y="790575"/>
            <a:ext cx="171450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04 • EXECUTION LIFECYCLE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3000" y="1123950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BASIC JDBC CONNECTIVITY STEPS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85888" y="4595557"/>
            <a:ext cx="3193199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STEP 01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85888" y="5067300"/>
            <a:ext cx="335285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Establish Connection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95400" y="5804668"/>
            <a:ext cx="26974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04"/>
              </a:lnSpc>
            </a:pPr>
            <a:r>
              <a:rPr lang="en-US" sz="20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Register/load driver and create connection using </a:t>
            </a:r>
            <a:r>
              <a:rPr lang="en-US" sz="2000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DriverManager</a:t>
            </a:r>
            <a:r>
              <a:rPr lang="en-US" sz="20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626245" y="4595557"/>
            <a:ext cx="3193199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STEP 02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626245" y="5067300"/>
            <a:ext cx="335285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Create Statement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535757" y="5804668"/>
            <a:ext cx="26974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04"/>
              </a:lnSpc>
            </a:pPr>
            <a:r>
              <a:rPr lang="en-US" sz="20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Create Statement object using the connection.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866612" y="4595557"/>
            <a:ext cx="3193199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STEP 03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866612" y="5067300"/>
            <a:ext cx="335285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Execute SQL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776124" y="5804668"/>
            <a:ext cx="26974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04"/>
              </a:lnSpc>
            </a:pPr>
            <a:r>
              <a:rPr lang="en-US" sz="20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Execute required SQL query using statement object.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106969" y="4595557"/>
            <a:ext cx="3193199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STEP 04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106969" y="5067300"/>
            <a:ext cx="335285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Get ResultSet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016481" y="5804668"/>
            <a:ext cx="26974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04"/>
              </a:lnSpc>
            </a:pPr>
            <a:r>
              <a:rPr lang="en-US" sz="20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Retrieve returned records through ResultSet for SELECT.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347327" y="4595557"/>
            <a:ext cx="3193199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STEP 05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347327" y="5067300"/>
            <a:ext cx="335285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Close Connection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256839" y="5804668"/>
            <a:ext cx="26974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04"/>
              </a:lnSpc>
            </a:pPr>
            <a:r>
              <a:rPr lang="en-US" sz="20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Close connection after completing database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58262" y="2753420"/>
            <a:ext cx="8186738" cy="6274709"/>
            <a:chOff x="0" y="0"/>
            <a:chExt cx="10915650" cy="59358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15650" cy="5935853"/>
            </a:xfrm>
            <a:custGeom>
              <a:avLst/>
              <a:gdLst/>
              <a:ahLst/>
              <a:cxnLst/>
              <a:rect l="l" t="t" r="r" b="b"/>
              <a:pathLst>
                <a:path w="10915650" h="593585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763250" y="0"/>
                  </a:lnTo>
                  <a:cubicBezTo>
                    <a:pt x="10847451" y="0"/>
                    <a:pt x="10915650" y="68199"/>
                    <a:pt x="10915650" y="152400"/>
                  </a:cubicBezTo>
                  <a:lnTo>
                    <a:pt x="10915650" y="5783453"/>
                  </a:lnTo>
                  <a:cubicBezTo>
                    <a:pt x="10915650" y="5867654"/>
                    <a:pt x="10847451" y="5935853"/>
                    <a:pt x="10763250" y="5935853"/>
                  </a:cubicBezTo>
                  <a:lnTo>
                    <a:pt x="152400" y="5935853"/>
                  </a:lnTo>
                  <a:cubicBezTo>
                    <a:pt x="68199" y="5935853"/>
                    <a:pt x="0" y="5867654"/>
                    <a:pt x="0" y="57834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35856" y="3467100"/>
            <a:ext cx="7372350" cy="1559196"/>
            <a:chOff x="0" y="0"/>
            <a:chExt cx="9829800" cy="1752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829800" cy="1752600"/>
            </a:xfrm>
            <a:custGeom>
              <a:avLst/>
              <a:gdLst/>
              <a:ahLst/>
              <a:cxnLst/>
              <a:rect l="l" t="t" r="r" b="b"/>
              <a:pathLst>
                <a:path w="9829800" h="1752600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9675749" y="0"/>
                  </a:lnTo>
                  <a:cubicBezTo>
                    <a:pt x="9760839" y="0"/>
                    <a:pt x="9829800" y="68961"/>
                    <a:pt x="9829800" y="154051"/>
                  </a:cubicBezTo>
                  <a:lnTo>
                    <a:pt x="9829800" y="1598549"/>
                  </a:lnTo>
                  <a:cubicBezTo>
                    <a:pt x="9829800" y="1683639"/>
                    <a:pt x="9760839" y="1752600"/>
                    <a:pt x="9675749" y="1752600"/>
                  </a:cubicBezTo>
                  <a:lnTo>
                    <a:pt x="154051" y="1752600"/>
                  </a:lnTo>
                  <a:cubicBezTo>
                    <a:pt x="68961" y="1752600"/>
                    <a:pt x="0" y="1683639"/>
                    <a:pt x="0" y="15985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35856" y="5522119"/>
            <a:ext cx="7372350" cy="1345930"/>
            <a:chOff x="0" y="0"/>
            <a:chExt cx="9829800" cy="14287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29800" cy="1428750"/>
            </a:xfrm>
            <a:custGeom>
              <a:avLst/>
              <a:gdLst/>
              <a:ahLst/>
              <a:cxnLst/>
              <a:rect l="l" t="t" r="r" b="b"/>
              <a:pathLst>
                <a:path w="9829800" h="1428750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9675368" y="0"/>
                  </a:lnTo>
                  <a:cubicBezTo>
                    <a:pt x="9760712" y="0"/>
                    <a:pt x="9829800" y="69088"/>
                    <a:pt x="9829800" y="154432"/>
                  </a:cubicBezTo>
                  <a:lnTo>
                    <a:pt x="9829800" y="1274318"/>
                  </a:lnTo>
                  <a:cubicBezTo>
                    <a:pt x="9829800" y="1359662"/>
                    <a:pt x="9760712" y="1428750"/>
                    <a:pt x="9675368" y="1428750"/>
                  </a:cubicBezTo>
                  <a:lnTo>
                    <a:pt x="154432" y="1428750"/>
                  </a:lnTo>
                  <a:cubicBezTo>
                    <a:pt x="69088" y="1428750"/>
                    <a:pt x="0" y="1359662"/>
                    <a:pt x="0" y="1274318"/>
                  </a:cubicBezTo>
                  <a:close/>
                </a:path>
              </a:pathLst>
            </a:custGeom>
            <a:solidFill>
              <a:srgbClr val="F0F7FF"/>
            </a:solidFill>
            <a:ln w="14288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58240" y="7361779"/>
            <a:ext cx="7372350" cy="1666351"/>
            <a:chOff x="0" y="0"/>
            <a:chExt cx="9829800" cy="1752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29800" cy="1752600"/>
            </a:xfrm>
            <a:custGeom>
              <a:avLst/>
              <a:gdLst/>
              <a:ahLst/>
              <a:cxnLst/>
              <a:rect l="l" t="t" r="r" b="b"/>
              <a:pathLst>
                <a:path w="9829800" h="1752600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9675749" y="0"/>
                  </a:lnTo>
                  <a:cubicBezTo>
                    <a:pt x="9760839" y="0"/>
                    <a:pt x="9829800" y="68961"/>
                    <a:pt x="9829800" y="154051"/>
                  </a:cubicBezTo>
                  <a:lnTo>
                    <a:pt x="9829800" y="1598549"/>
                  </a:lnTo>
                  <a:cubicBezTo>
                    <a:pt x="9829800" y="1683639"/>
                    <a:pt x="9760839" y="1752600"/>
                    <a:pt x="9675749" y="1752600"/>
                  </a:cubicBezTo>
                  <a:lnTo>
                    <a:pt x="154051" y="1752600"/>
                  </a:lnTo>
                  <a:cubicBezTo>
                    <a:pt x="68961" y="1752600"/>
                    <a:pt x="0" y="1683639"/>
                    <a:pt x="0" y="159854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958262" y="8863012"/>
            <a:ext cx="8186738" cy="14288"/>
            <a:chOff x="0" y="0"/>
            <a:chExt cx="10915650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15650" cy="19050"/>
            </a:xfrm>
            <a:custGeom>
              <a:avLst/>
              <a:gdLst/>
              <a:ahLst/>
              <a:cxnLst/>
              <a:rect l="l" t="t" r="r" b="b"/>
              <a:pathLst>
                <a:path w="10915650" h="19050">
                  <a:moveTo>
                    <a:pt x="0" y="0"/>
                  </a:moveTo>
                  <a:lnTo>
                    <a:pt x="10915650" y="0"/>
                  </a:lnTo>
                  <a:lnTo>
                    <a:pt x="1091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958262" y="3333750"/>
            <a:ext cx="8186738" cy="57150"/>
            <a:chOff x="0" y="0"/>
            <a:chExt cx="10915650" cy="76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15650" cy="76200"/>
            </a:xfrm>
            <a:custGeom>
              <a:avLst/>
              <a:gdLst/>
              <a:ahLst/>
              <a:cxnLst/>
              <a:rect l="l" t="t" r="r" b="b"/>
              <a:pathLst>
                <a:path w="10915650" h="76200">
                  <a:moveTo>
                    <a:pt x="0" y="0"/>
                  </a:moveTo>
                  <a:lnTo>
                    <a:pt x="10915650" y="0"/>
                  </a:lnTo>
                  <a:lnTo>
                    <a:pt x="109156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958261" y="3596211"/>
            <a:ext cx="45719" cy="5266801"/>
            <a:chOff x="0" y="0"/>
            <a:chExt cx="19050" cy="59358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50" cy="5935853"/>
            </a:xfrm>
            <a:custGeom>
              <a:avLst/>
              <a:gdLst/>
              <a:ahLst/>
              <a:cxnLst/>
              <a:rect l="l" t="t" r="r" b="b"/>
              <a:pathLst>
                <a:path w="19050" h="5935853">
                  <a:moveTo>
                    <a:pt x="0" y="0"/>
                  </a:moveTo>
                  <a:lnTo>
                    <a:pt x="19050" y="0"/>
                  </a:lnTo>
                  <a:lnTo>
                    <a:pt x="19050" y="5935853"/>
                  </a:lnTo>
                  <a:lnTo>
                    <a:pt x="0" y="5935853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130711" y="3596211"/>
            <a:ext cx="45719" cy="5241230"/>
            <a:chOff x="0" y="0"/>
            <a:chExt cx="19050" cy="59358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050" cy="5935853"/>
            </a:xfrm>
            <a:custGeom>
              <a:avLst/>
              <a:gdLst/>
              <a:ahLst/>
              <a:cxnLst/>
              <a:rect l="l" t="t" r="r" b="b"/>
              <a:pathLst>
                <a:path w="19050" h="5935853">
                  <a:moveTo>
                    <a:pt x="0" y="0"/>
                  </a:moveTo>
                  <a:lnTo>
                    <a:pt x="19050" y="0"/>
                  </a:lnTo>
                  <a:lnTo>
                    <a:pt x="19050" y="5935853"/>
                  </a:lnTo>
                  <a:lnTo>
                    <a:pt x="0" y="5935853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372600" y="4829175"/>
            <a:ext cx="7358062" cy="542925"/>
            <a:chOff x="0" y="0"/>
            <a:chExt cx="9810750" cy="7239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10750" cy="723900"/>
            </a:xfrm>
            <a:custGeom>
              <a:avLst/>
              <a:gdLst/>
              <a:ahLst/>
              <a:cxnLst/>
              <a:rect l="l" t="t" r="r" b="b"/>
              <a:pathLst>
                <a:path w="9810750" h="7239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9696450" y="0"/>
                  </a:lnTo>
                  <a:cubicBezTo>
                    <a:pt x="9759569" y="0"/>
                    <a:pt x="9810750" y="51181"/>
                    <a:pt x="9810750" y="114300"/>
                  </a:cubicBezTo>
                  <a:lnTo>
                    <a:pt x="9810750" y="609600"/>
                  </a:lnTo>
                  <a:cubicBezTo>
                    <a:pt x="9810750" y="672719"/>
                    <a:pt x="9759569" y="723900"/>
                    <a:pt x="9696450" y="723900"/>
                  </a:cubicBezTo>
                  <a:lnTo>
                    <a:pt x="114300" y="723900"/>
                  </a:lnTo>
                  <a:cubicBezTo>
                    <a:pt x="51181" y="723900"/>
                    <a:pt x="0" y="672719"/>
                    <a:pt x="0" y="609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372600" y="6424613"/>
            <a:ext cx="7358062" cy="860177"/>
            <a:chOff x="0" y="0"/>
            <a:chExt cx="9810750" cy="7239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810750" cy="723900"/>
            </a:xfrm>
            <a:custGeom>
              <a:avLst/>
              <a:gdLst/>
              <a:ahLst/>
              <a:cxnLst/>
              <a:rect l="l" t="t" r="r" b="b"/>
              <a:pathLst>
                <a:path w="9810750" h="7239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9696450" y="0"/>
                  </a:lnTo>
                  <a:cubicBezTo>
                    <a:pt x="9759569" y="0"/>
                    <a:pt x="9810750" y="51181"/>
                    <a:pt x="9810750" y="114300"/>
                  </a:cubicBezTo>
                  <a:lnTo>
                    <a:pt x="9810750" y="609600"/>
                  </a:lnTo>
                  <a:cubicBezTo>
                    <a:pt x="9810750" y="672719"/>
                    <a:pt x="9759569" y="723900"/>
                    <a:pt x="9696450" y="723900"/>
                  </a:cubicBezTo>
                  <a:lnTo>
                    <a:pt x="114300" y="723900"/>
                  </a:lnTo>
                  <a:cubicBezTo>
                    <a:pt x="51181" y="723900"/>
                    <a:pt x="0" y="672719"/>
                    <a:pt x="0" y="609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372600" y="6868049"/>
            <a:ext cx="7358062" cy="14288"/>
            <a:chOff x="0" y="0"/>
            <a:chExt cx="9810750" cy="19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10750" cy="19050"/>
            </a:xfrm>
            <a:custGeom>
              <a:avLst/>
              <a:gdLst/>
              <a:ahLst/>
              <a:cxnLst/>
              <a:rect l="l" t="t" r="r" b="b"/>
              <a:pathLst>
                <a:path w="9810750" h="19050">
                  <a:moveTo>
                    <a:pt x="0" y="0"/>
                  </a:moveTo>
                  <a:lnTo>
                    <a:pt x="9810750" y="0"/>
                  </a:lnTo>
                  <a:lnTo>
                    <a:pt x="9810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143000" y="790575"/>
            <a:ext cx="171450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05 • INITIALIZATION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1123950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STEP 1: REGISTER / LOAD THE DRIVER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3000" y="2753420"/>
            <a:ext cx="9197578" cy="26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2400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THREE REGISTRATION APPROACHES: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0175" y="3662887"/>
            <a:ext cx="6986588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A. </a:t>
            </a:r>
            <a:r>
              <a:rPr lang="en-US" sz="2400" b="1" dirty="0" err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DriverManager.registerDriver</a:t>
            </a:r>
            <a:r>
              <a:rPr lang="en-US" sz="2400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()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0175" y="5719763"/>
            <a:ext cx="6986588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 dirty="0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B. </a:t>
            </a:r>
            <a:r>
              <a:rPr lang="en-US" sz="2400" b="1" dirty="0" err="1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Class.forName</a:t>
            </a:r>
            <a:r>
              <a:rPr lang="en-US" sz="2400" b="1" dirty="0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() [Primary Approach]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2559" y="7559423"/>
            <a:ext cx="6986588" cy="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400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C. Using System Property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72600" y="3619500"/>
            <a:ext cx="8915400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SYNTAX &amp; VENDOR SPECIFICATION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72600" y="4371975"/>
            <a:ext cx="750093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1" dirty="0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General Syntax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72600" y="6057900"/>
            <a:ext cx="750093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000" b="1" dirty="0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MySQL Driver Implementation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14462" y="4074319"/>
            <a:ext cx="6958012" cy="86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DriverManager.registerDriver</a:t>
            </a:r>
            <a:r>
              <a:rPr lang="en-US" sz="2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(new </a:t>
            </a:r>
            <a:r>
              <a:rPr lang="en-US" sz="2000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sun.jdbc.odbc.JdbcOdbcDriver</a:t>
            </a:r>
            <a:r>
              <a:rPr lang="en-US" sz="2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4462" y="6357646"/>
            <a:ext cx="8518922" cy="23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000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Class.forName</a:t>
            </a:r>
            <a:r>
              <a:rPr lang="en-US" sz="2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("</a:t>
            </a:r>
            <a:r>
              <a:rPr lang="en-US" sz="2000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sun.jdbc.odbc.JdbcOdbcDriver</a:t>
            </a:r>
            <a:r>
              <a:rPr lang="en-US" sz="2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");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6846" y="7968998"/>
            <a:ext cx="6958012" cy="86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System.setProperty</a:t>
            </a:r>
            <a:r>
              <a:rPr lang="en-US" sz="2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("</a:t>
            </a:r>
            <a:r>
              <a:rPr lang="en-US" sz="2000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jdbc.driver</a:t>
            </a:r>
            <a:r>
              <a:rPr lang="en-US" sz="2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", "</a:t>
            </a:r>
            <a:r>
              <a:rPr lang="en-US" sz="2000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sun.jdbc.odbc.JdbcOdbcDriver</a:t>
            </a:r>
            <a:r>
              <a:rPr lang="en-US" sz="2000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");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39262" y="7830195"/>
            <a:ext cx="7500938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20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MySQL driver class is </a:t>
            </a:r>
            <a:r>
              <a:rPr lang="en-US" sz="2000" b="1" dirty="0" err="1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com.mysql.cj.jdbc.Driver</a:t>
            </a:r>
            <a:r>
              <a:rPr lang="en-US" sz="20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, provided by the corresponding MySQL Connector JAR.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72625" y="4972050"/>
            <a:ext cx="8697516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1" dirty="0" err="1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Class.forName</a:t>
            </a:r>
            <a:r>
              <a:rPr lang="en-US" b="1" dirty="0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("</a:t>
            </a:r>
            <a:r>
              <a:rPr lang="en-US" b="1" dirty="0" err="1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driver_class_name</a:t>
            </a:r>
            <a:r>
              <a:rPr lang="en-US" b="1" dirty="0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");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72625" y="6728644"/>
            <a:ext cx="8697516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2000" b="1" dirty="0" err="1">
                <a:solidFill>
                  <a:srgbClr val="2563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Class.forName</a:t>
            </a:r>
            <a:r>
              <a:rPr lang="en-US" sz="2000" b="1" dirty="0">
                <a:solidFill>
                  <a:srgbClr val="2563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("</a:t>
            </a:r>
            <a:r>
              <a:rPr lang="en-US" sz="2000" b="1" dirty="0" err="1">
                <a:solidFill>
                  <a:srgbClr val="2563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com.mysql.cj.jdbc.Driver</a:t>
            </a:r>
            <a:r>
              <a:rPr lang="en-US" sz="2000" b="1" dirty="0">
                <a:solidFill>
                  <a:srgbClr val="2563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5856" y="2035969"/>
            <a:ext cx="5157788" cy="5545931"/>
            <a:chOff x="0" y="0"/>
            <a:chExt cx="6877050" cy="10020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77050" cy="10020300"/>
            </a:xfrm>
            <a:custGeom>
              <a:avLst/>
              <a:gdLst/>
              <a:ahLst/>
              <a:cxnLst/>
              <a:rect l="l" t="t" r="r" b="b"/>
              <a:pathLst>
                <a:path w="6877050" h="10020300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724269" y="0"/>
                  </a:lnTo>
                  <a:cubicBezTo>
                    <a:pt x="6808724" y="0"/>
                    <a:pt x="6877050" y="68453"/>
                    <a:pt x="6877050" y="152781"/>
                  </a:cubicBezTo>
                  <a:lnTo>
                    <a:pt x="6877050" y="9867519"/>
                  </a:lnTo>
                  <a:cubicBezTo>
                    <a:pt x="6877050" y="9951974"/>
                    <a:pt x="6808597" y="10020300"/>
                    <a:pt x="6724269" y="10020300"/>
                  </a:cubicBezTo>
                  <a:lnTo>
                    <a:pt x="152781" y="10020300"/>
                  </a:lnTo>
                  <a:cubicBezTo>
                    <a:pt x="68453" y="10020300"/>
                    <a:pt x="0" y="9951847"/>
                    <a:pt x="0" y="986751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565106" y="2035969"/>
            <a:ext cx="5157788" cy="5545931"/>
            <a:chOff x="0" y="0"/>
            <a:chExt cx="6877050" cy="10020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77050" cy="10020300"/>
            </a:xfrm>
            <a:custGeom>
              <a:avLst/>
              <a:gdLst/>
              <a:ahLst/>
              <a:cxnLst/>
              <a:rect l="l" t="t" r="r" b="b"/>
              <a:pathLst>
                <a:path w="6877050" h="10020300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724269" y="0"/>
                  </a:lnTo>
                  <a:cubicBezTo>
                    <a:pt x="6808724" y="0"/>
                    <a:pt x="6877050" y="68453"/>
                    <a:pt x="6877050" y="152781"/>
                  </a:cubicBezTo>
                  <a:lnTo>
                    <a:pt x="6877050" y="9867519"/>
                  </a:lnTo>
                  <a:cubicBezTo>
                    <a:pt x="6877050" y="9951974"/>
                    <a:pt x="6808597" y="10020300"/>
                    <a:pt x="6724269" y="10020300"/>
                  </a:cubicBezTo>
                  <a:lnTo>
                    <a:pt x="152781" y="10020300"/>
                  </a:lnTo>
                  <a:cubicBezTo>
                    <a:pt x="68453" y="10020300"/>
                    <a:pt x="0" y="9951847"/>
                    <a:pt x="0" y="986751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994356" y="2035969"/>
            <a:ext cx="5157788" cy="5545931"/>
            <a:chOff x="0" y="0"/>
            <a:chExt cx="6877050" cy="10020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77050" cy="10020300"/>
            </a:xfrm>
            <a:custGeom>
              <a:avLst/>
              <a:gdLst/>
              <a:ahLst/>
              <a:cxnLst/>
              <a:rect l="l" t="t" r="r" b="b"/>
              <a:pathLst>
                <a:path w="6877050" h="10020300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724269" y="0"/>
                  </a:lnTo>
                  <a:cubicBezTo>
                    <a:pt x="6808724" y="0"/>
                    <a:pt x="6877050" y="68453"/>
                    <a:pt x="6877050" y="152781"/>
                  </a:cubicBezTo>
                  <a:lnTo>
                    <a:pt x="6877050" y="9867519"/>
                  </a:lnTo>
                  <a:cubicBezTo>
                    <a:pt x="6877050" y="9951974"/>
                    <a:pt x="6808597" y="10020300"/>
                    <a:pt x="6724269" y="10020300"/>
                  </a:cubicBezTo>
                  <a:lnTo>
                    <a:pt x="152781" y="10020300"/>
                  </a:lnTo>
                  <a:cubicBezTo>
                    <a:pt x="68453" y="10020300"/>
                    <a:pt x="0" y="9951847"/>
                    <a:pt x="0" y="986751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464469" y="4379817"/>
            <a:ext cx="4500562" cy="2668683"/>
            <a:chOff x="0" y="0"/>
            <a:chExt cx="6000750" cy="2495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00750" cy="2495550"/>
            </a:xfrm>
            <a:custGeom>
              <a:avLst/>
              <a:gdLst/>
              <a:ahLst/>
              <a:cxnLst/>
              <a:rect l="l" t="t" r="r" b="b"/>
              <a:pathLst>
                <a:path w="6000750" h="249555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5885561" y="0"/>
                  </a:lnTo>
                  <a:cubicBezTo>
                    <a:pt x="5949188" y="0"/>
                    <a:pt x="6000750" y="51562"/>
                    <a:pt x="6000750" y="115189"/>
                  </a:cubicBezTo>
                  <a:lnTo>
                    <a:pt x="6000750" y="2380361"/>
                  </a:lnTo>
                  <a:cubicBezTo>
                    <a:pt x="6000750" y="2443988"/>
                    <a:pt x="5949188" y="2495550"/>
                    <a:pt x="5885561" y="2495550"/>
                  </a:cubicBezTo>
                  <a:lnTo>
                    <a:pt x="115189" y="2495550"/>
                  </a:lnTo>
                  <a:cubicBezTo>
                    <a:pt x="51562" y="2495550"/>
                    <a:pt x="0" y="2443988"/>
                    <a:pt x="0" y="238036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893719" y="4519612"/>
            <a:ext cx="4500562" cy="2300288"/>
            <a:chOff x="0" y="0"/>
            <a:chExt cx="6000750" cy="21526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00750" cy="2152650"/>
            </a:xfrm>
            <a:custGeom>
              <a:avLst/>
              <a:gdLst/>
              <a:ahLst/>
              <a:cxnLst/>
              <a:rect l="l" t="t" r="r" b="b"/>
              <a:pathLst>
                <a:path w="6000750" h="2152650">
                  <a:moveTo>
                    <a:pt x="0" y="115316"/>
                  </a:moveTo>
                  <a:cubicBezTo>
                    <a:pt x="0" y="51689"/>
                    <a:pt x="51689" y="0"/>
                    <a:pt x="115316" y="0"/>
                  </a:cubicBezTo>
                  <a:lnTo>
                    <a:pt x="5885434" y="0"/>
                  </a:lnTo>
                  <a:cubicBezTo>
                    <a:pt x="5949061" y="0"/>
                    <a:pt x="6000750" y="51689"/>
                    <a:pt x="6000750" y="115316"/>
                  </a:cubicBezTo>
                  <a:lnTo>
                    <a:pt x="6000750" y="2037334"/>
                  </a:lnTo>
                  <a:cubicBezTo>
                    <a:pt x="6000750" y="2100961"/>
                    <a:pt x="5949061" y="2152650"/>
                    <a:pt x="5885434" y="2152650"/>
                  </a:cubicBezTo>
                  <a:lnTo>
                    <a:pt x="115316" y="2152650"/>
                  </a:lnTo>
                  <a:cubicBezTo>
                    <a:pt x="51689" y="2152650"/>
                    <a:pt x="0" y="2100961"/>
                    <a:pt x="0" y="203733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43000" y="733425"/>
            <a:ext cx="171450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06 • CONNECTION &amp; CONFIGURATION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1066800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STEP 2: ESTABLISH THE CONNECTION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1612" y="2362200"/>
            <a:ext cx="560784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METHOD SYNTAX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612" y="2849714"/>
            <a:ext cx="5888231" cy="312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b="1" dirty="0" err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getConnection</a:t>
            </a:r>
            <a:r>
              <a:rPr lang="en-US" sz="2800" b="1" dirty="0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()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1612" y="3390900"/>
            <a:ext cx="4629150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20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Returns a Connection object representing the session with the database.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4488" y="4487269"/>
            <a:ext cx="4343400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Connection con =</a:t>
            </a:r>
          </a:p>
          <a:p>
            <a:pPr algn="l"/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DriverManager.getConnection</a:t>
            </a: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url</a:t>
            </a: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</a:p>
          <a:p>
            <a:pPr algn="l"/>
            <a:endParaRPr lang="en-US" dirty="0">
              <a:solidFill>
                <a:srgbClr val="0F172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algn="l"/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Connection con =</a:t>
            </a:r>
          </a:p>
          <a:p>
            <a:pPr algn="l"/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DriverManager.getConnection</a:t>
            </a: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</a:p>
          <a:p>
            <a:pPr algn="l"/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url</a:t>
            </a: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username, password);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00862" y="2362200"/>
            <a:ext cx="560784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IDENTIFIER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00862" y="2849714"/>
            <a:ext cx="5888231" cy="312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JDBC URL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00862" y="3390900"/>
            <a:ext cx="4629150" cy="607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Identifies the target database: </a:t>
            </a:r>
            <a:r>
              <a:rPr lang="en-US" sz="1575" b="1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jdbc::</a:t>
            </a: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(vendor protocol + host/port/database).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3738" y="4631531"/>
            <a:ext cx="4343400" cy="203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DriverManager.getConnection</a:t>
            </a: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"</a:t>
            </a:r>
            <a:r>
              <a:rPr lang="en-US" dirty="0" err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jdbc:mysql</a:t>
            </a: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://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10.10.13.202:3306/test",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username,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password);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30112" y="2362200"/>
            <a:ext cx="560784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INTERFACE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30112" y="2849714"/>
            <a:ext cx="5888231" cy="312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800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Connection Interface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30112" y="3608785"/>
            <a:ext cx="46291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Factory for statement objects and transaction control.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30112" y="4604147"/>
            <a:ext cx="46291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Factory For:</a:t>
            </a:r>
            <a:r>
              <a:rPr lang="en-US" sz="2000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Statement, </a:t>
            </a:r>
            <a:r>
              <a:rPr lang="en-US" sz="2000" dirty="0" err="1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PreparedStatement</a:t>
            </a:r>
            <a:r>
              <a:rPr lang="en-US" sz="2000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00" dirty="0" err="1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DatabaseMetaData</a:t>
            </a:r>
            <a:endParaRPr lang="en-US" sz="2000" dirty="0">
              <a:solidFill>
                <a:srgbClr val="1E293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30112" y="5366147"/>
            <a:ext cx="46291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Transactions:</a:t>
            </a:r>
            <a:r>
              <a:rPr lang="en-US" sz="2000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 commit(), rollback(), </a:t>
            </a:r>
            <a:r>
              <a:rPr lang="en-US" sz="2000" dirty="0" err="1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setAutoCommit</a:t>
            </a:r>
            <a:r>
              <a:rPr lang="en-US" sz="2000" dirty="0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2157412"/>
            <a:ext cx="16002000" cy="728662"/>
            <a:chOff x="0" y="0"/>
            <a:chExt cx="21336000" cy="9715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36000" cy="971550"/>
            </a:xfrm>
            <a:custGeom>
              <a:avLst/>
              <a:gdLst/>
              <a:ahLst/>
              <a:cxnLst/>
              <a:rect l="l" t="t" r="r" b="b"/>
              <a:pathLst>
                <a:path w="21336000" h="9715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1221700" y="0"/>
                  </a:lnTo>
                  <a:cubicBezTo>
                    <a:pt x="21284819" y="0"/>
                    <a:pt x="21336000" y="51181"/>
                    <a:pt x="21336000" y="114300"/>
                  </a:cubicBezTo>
                  <a:lnTo>
                    <a:pt x="21336000" y="857250"/>
                  </a:lnTo>
                  <a:cubicBezTo>
                    <a:pt x="21336000" y="920369"/>
                    <a:pt x="21284819" y="971550"/>
                    <a:pt x="21221700" y="971550"/>
                  </a:cubicBezTo>
                  <a:lnTo>
                    <a:pt x="114300" y="971550"/>
                  </a:lnTo>
                  <a:cubicBezTo>
                    <a:pt x="51181" y="971550"/>
                    <a:pt x="0" y="920369"/>
                    <a:pt x="0" y="857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43000" y="2871788"/>
            <a:ext cx="16002000" cy="14288"/>
            <a:chOff x="0" y="0"/>
            <a:chExt cx="21336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36000" cy="19050"/>
            </a:xfrm>
            <a:custGeom>
              <a:avLst/>
              <a:gdLst/>
              <a:ahLst/>
              <a:cxnLst/>
              <a:rect l="l" t="t" r="r" b="b"/>
              <a:pathLst>
                <a:path w="21336000" h="1905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" y="2157412"/>
            <a:ext cx="16002000" cy="14288"/>
            <a:chOff x="0" y="0"/>
            <a:chExt cx="213360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36000" cy="19050"/>
            </a:xfrm>
            <a:custGeom>
              <a:avLst/>
              <a:gdLst/>
              <a:ahLst/>
              <a:cxnLst/>
              <a:rect l="l" t="t" r="r" b="b"/>
              <a:pathLst>
                <a:path w="21336000" h="19050">
                  <a:moveTo>
                    <a:pt x="0" y="0"/>
                  </a:moveTo>
                  <a:lnTo>
                    <a:pt x="21336000" y="0"/>
                  </a:lnTo>
                  <a:lnTo>
                    <a:pt x="21336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43000" y="2157412"/>
            <a:ext cx="57150" cy="728662"/>
            <a:chOff x="0" y="0"/>
            <a:chExt cx="76200" cy="971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" cy="971550"/>
            </a:xfrm>
            <a:custGeom>
              <a:avLst/>
              <a:gdLst/>
              <a:ahLst/>
              <a:cxnLst/>
              <a:rect l="l" t="t" r="r" b="b"/>
              <a:pathLst>
                <a:path w="76200" h="971550">
                  <a:moveTo>
                    <a:pt x="0" y="0"/>
                  </a:moveTo>
                  <a:lnTo>
                    <a:pt x="76200" y="0"/>
                  </a:lnTo>
                  <a:lnTo>
                    <a:pt x="7620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130712" y="2157412"/>
            <a:ext cx="14288" cy="728662"/>
            <a:chOff x="0" y="0"/>
            <a:chExt cx="19050" cy="971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050" cy="971550"/>
            </a:xfrm>
            <a:custGeom>
              <a:avLst/>
              <a:gdLst/>
              <a:ahLst/>
              <a:cxnLst/>
              <a:rect l="l" t="t" r="r" b="b"/>
              <a:pathLst>
                <a:path w="19050" h="971550">
                  <a:moveTo>
                    <a:pt x="0" y="0"/>
                  </a:moveTo>
                  <a:lnTo>
                    <a:pt x="19050" y="0"/>
                  </a:lnTo>
                  <a:lnTo>
                    <a:pt x="19050" y="971550"/>
                  </a:lnTo>
                  <a:lnTo>
                    <a:pt x="0" y="9715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35856" y="3278981"/>
            <a:ext cx="5157788" cy="6215062"/>
            <a:chOff x="0" y="0"/>
            <a:chExt cx="6877050" cy="8286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77050" cy="8286750"/>
            </a:xfrm>
            <a:custGeom>
              <a:avLst/>
              <a:gdLst/>
              <a:ahLst/>
              <a:cxnLst/>
              <a:rect l="l" t="t" r="r" b="b"/>
              <a:pathLst>
                <a:path w="6877050" h="8286750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724269" y="0"/>
                  </a:lnTo>
                  <a:cubicBezTo>
                    <a:pt x="6808724" y="0"/>
                    <a:pt x="6877050" y="68453"/>
                    <a:pt x="6877050" y="152781"/>
                  </a:cubicBezTo>
                  <a:lnTo>
                    <a:pt x="6877050" y="8133969"/>
                  </a:lnTo>
                  <a:cubicBezTo>
                    <a:pt x="6877050" y="8218424"/>
                    <a:pt x="6808597" y="8286750"/>
                    <a:pt x="6724269" y="8286750"/>
                  </a:cubicBezTo>
                  <a:lnTo>
                    <a:pt x="152781" y="8286750"/>
                  </a:lnTo>
                  <a:cubicBezTo>
                    <a:pt x="68453" y="8286750"/>
                    <a:pt x="0" y="8218297"/>
                    <a:pt x="0" y="813396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565106" y="3278981"/>
            <a:ext cx="5157788" cy="6215062"/>
            <a:chOff x="0" y="0"/>
            <a:chExt cx="6877050" cy="8286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77050" cy="8286750"/>
            </a:xfrm>
            <a:custGeom>
              <a:avLst/>
              <a:gdLst/>
              <a:ahLst/>
              <a:cxnLst/>
              <a:rect l="l" t="t" r="r" b="b"/>
              <a:pathLst>
                <a:path w="6877050" h="8286750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724269" y="0"/>
                  </a:lnTo>
                  <a:cubicBezTo>
                    <a:pt x="6808724" y="0"/>
                    <a:pt x="6877050" y="68453"/>
                    <a:pt x="6877050" y="152781"/>
                  </a:cubicBezTo>
                  <a:lnTo>
                    <a:pt x="6877050" y="8133969"/>
                  </a:lnTo>
                  <a:cubicBezTo>
                    <a:pt x="6877050" y="8218424"/>
                    <a:pt x="6808597" y="8286750"/>
                    <a:pt x="6724269" y="8286750"/>
                  </a:cubicBezTo>
                  <a:lnTo>
                    <a:pt x="152781" y="8286750"/>
                  </a:lnTo>
                  <a:cubicBezTo>
                    <a:pt x="68453" y="8286750"/>
                    <a:pt x="0" y="8218297"/>
                    <a:pt x="0" y="813396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994356" y="3278981"/>
            <a:ext cx="5157788" cy="6215062"/>
            <a:chOff x="0" y="0"/>
            <a:chExt cx="6877050" cy="8286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77050" cy="8286750"/>
            </a:xfrm>
            <a:custGeom>
              <a:avLst/>
              <a:gdLst/>
              <a:ahLst/>
              <a:cxnLst/>
              <a:rect l="l" t="t" r="r" b="b"/>
              <a:pathLst>
                <a:path w="6877050" h="8286750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724269" y="0"/>
                  </a:lnTo>
                  <a:cubicBezTo>
                    <a:pt x="6808724" y="0"/>
                    <a:pt x="6877050" y="68453"/>
                    <a:pt x="6877050" y="152781"/>
                  </a:cubicBezTo>
                  <a:lnTo>
                    <a:pt x="6877050" y="8133969"/>
                  </a:lnTo>
                  <a:cubicBezTo>
                    <a:pt x="6877050" y="8218424"/>
                    <a:pt x="6808597" y="8286750"/>
                    <a:pt x="6724269" y="8286750"/>
                  </a:cubicBezTo>
                  <a:lnTo>
                    <a:pt x="152781" y="8286750"/>
                  </a:lnTo>
                  <a:cubicBezTo>
                    <a:pt x="68453" y="8286750"/>
                    <a:pt x="0" y="8218297"/>
                    <a:pt x="0" y="813396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64469" y="7048500"/>
            <a:ext cx="4500562" cy="1163003"/>
            <a:chOff x="0" y="0"/>
            <a:chExt cx="6000750" cy="10477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00750" cy="1047750"/>
            </a:xfrm>
            <a:custGeom>
              <a:avLst/>
              <a:gdLst/>
              <a:ahLst/>
              <a:cxnLst/>
              <a:rect l="l" t="t" r="r" b="b"/>
              <a:pathLst>
                <a:path w="6000750" h="1047750">
                  <a:moveTo>
                    <a:pt x="0" y="116459"/>
                  </a:moveTo>
                  <a:cubicBezTo>
                    <a:pt x="0" y="52070"/>
                    <a:pt x="52070" y="0"/>
                    <a:pt x="116459" y="0"/>
                  </a:cubicBezTo>
                  <a:lnTo>
                    <a:pt x="5884291" y="0"/>
                  </a:lnTo>
                  <a:cubicBezTo>
                    <a:pt x="5948553" y="0"/>
                    <a:pt x="6000750" y="52070"/>
                    <a:pt x="6000750" y="116459"/>
                  </a:cubicBezTo>
                  <a:lnTo>
                    <a:pt x="6000750" y="931291"/>
                  </a:lnTo>
                  <a:cubicBezTo>
                    <a:pt x="6000750" y="995553"/>
                    <a:pt x="5948680" y="1047750"/>
                    <a:pt x="5884291" y="1047750"/>
                  </a:cubicBezTo>
                  <a:lnTo>
                    <a:pt x="116459" y="1047750"/>
                  </a:lnTo>
                  <a:cubicBezTo>
                    <a:pt x="52070" y="1047750"/>
                    <a:pt x="0" y="995680"/>
                    <a:pt x="0" y="9312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93719" y="7048500"/>
            <a:ext cx="4500562" cy="1163003"/>
            <a:chOff x="0" y="0"/>
            <a:chExt cx="6000750" cy="10477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00750" cy="1047750"/>
            </a:xfrm>
            <a:custGeom>
              <a:avLst/>
              <a:gdLst/>
              <a:ahLst/>
              <a:cxnLst/>
              <a:rect l="l" t="t" r="r" b="b"/>
              <a:pathLst>
                <a:path w="6000750" h="1047750">
                  <a:moveTo>
                    <a:pt x="0" y="116459"/>
                  </a:moveTo>
                  <a:cubicBezTo>
                    <a:pt x="0" y="52070"/>
                    <a:pt x="52070" y="0"/>
                    <a:pt x="116459" y="0"/>
                  </a:cubicBezTo>
                  <a:lnTo>
                    <a:pt x="5884291" y="0"/>
                  </a:lnTo>
                  <a:cubicBezTo>
                    <a:pt x="5948553" y="0"/>
                    <a:pt x="6000750" y="52070"/>
                    <a:pt x="6000750" y="116459"/>
                  </a:cubicBezTo>
                  <a:lnTo>
                    <a:pt x="6000750" y="931291"/>
                  </a:lnTo>
                  <a:cubicBezTo>
                    <a:pt x="6000750" y="995553"/>
                    <a:pt x="5948680" y="1047750"/>
                    <a:pt x="5884291" y="1047750"/>
                  </a:cubicBezTo>
                  <a:lnTo>
                    <a:pt x="116459" y="1047750"/>
                  </a:lnTo>
                  <a:cubicBezTo>
                    <a:pt x="52070" y="1047750"/>
                    <a:pt x="0" y="995680"/>
                    <a:pt x="0" y="9312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322969" y="7048500"/>
            <a:ext cx="4500562" cy="1163003"/>
            <a:chOff x="0" y="0"/>
            <a:chExt cx="6000750" cy="10477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00750" cy="1047750"/>
            </a:xfrm>
            <a:custGeom>
              <a:avLst/>
              <a:gdLst/>
              <a:ahLst/>
              <a:cxnLst/>
              <a:rect l="l" t="t" r="r" b="b"/>
              <a:pathLst>
                <a:path w="6000750" h="1047750">
                  <a:moveTo>
                    <a:pt x="0" y="116459"/>
                  </a:moveTo>
                  <a:cubicBezTo>
                    <a:pt x="0" y="52070"/>
                    <a:pt x="52070" y="0"/>
                    <a:pt x="116459" y="0"/>
                  </a:cubicBezTo>
                  <a:lnTo>
                    <a:pt x="5884291" y="0"/>
                  </a:lnTo>
                  <a:cubicBezTo>
                    <a:pt x="5948553" y="0"/>
                    <a:pt x="6000750" y="52070"/>
                    <a:pt x="6000750" y="116459"/>
                  </a:cubicBezTo>
                  <a:lnTo>
                    <a:pt x="6000750" y="931291"/>
                  </a:lnTo>
                  <a:cubicBezTo>
                    <a:pt x="6000750" y="995553"/>
                    <a:pt x="5948680" y="1047750"/>
                    <a:pt x="5884291" y="1047750"/>
                  </a:cubicBezTo>
                  <a:lnTo>
                    <a:pt x="116459" y="1047750"/>
                  </a:lnTo>
                  <a:cubicBezTo>
                    <a:pt x="52070" y="1047750"/>
                    <a:pt x="0" y="995680"/>
                    <a:pt x="0" y="93129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143000" y="790575"/>
            <a:ext cx="171450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07 • SQL EXECUTION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1123950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CREATING &amp; EXECUTING SQL QUERIES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85900" y="2352675"/>
            <a:ext cx="9751219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Create Statement Object: </a:t>
            </a:r>
            <a:r>
              <a:rPr lang="en-US" sz="1687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Statement stmt = con.createStatement();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87475" y="2397919"/>
            <a:ext cx="3446859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Executes SQL against database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1612" y="3605213"/>
            <a:ext cx="560784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QUERY EXECUTION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71612" y="4230932"/>
            <a:ext cx="5888231" cy="30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2800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1. executeQuery()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71612" y="4885372"/>
            <a:ext cx="4629150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Executes SELECT queries and returns a </a:t>
            </a:r>
            <a:r>
              <a:rPr lang="en-US" sz="2400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ResultSet</a:t>
            </a:r>
            <a:r>
              <a:rPr lang="en-US" sz="24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containing retrieved records.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14488" y="7153275"/>
            <a:ext cx="4343400" cy="86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ResultSet rs =</a:t>
            </a:r>
          </a:p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stmt.executeQuery(sql);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00862" y="3605213"/>
            <a:ext cx="560784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DATA MODIFICATION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00862" y="4230932"/>
            <a:ext cx="5888231" cy="30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2800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2. executeUpdate()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00862" y="4885372"/>
            <a:ext cx="462915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Executes INSERT, UPDATE, DELETE, CREATE, DROP. Returns integer count of affected records.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43738" y="7153275"/>
            <a:ext cx="4343400" cy="86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rowsAffected =</a:t>
            </a:r>
          </a:p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stmt.executeUpdate(sql);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30112" y="3605213"/>
            <a:ext cx="560784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GENERAL EXECUTION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30112" y="4230932"/>
            <a:ext cx="5888231" cy="30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2800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3. execute()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30112" y="4885372"/>
            <a:ext cx="4629150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Executes SQL statements that may return multiple results. Returns boolean.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472988" y="7153275"/>
            <a:ext cx="4343400" cy="86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boolean result =</a:t>
            </a:r>
          </a:p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stmt.execute(sql);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85009" y="3849138"/>
            <a:ext cx="8467125" cy="3945807"/>
            <a:chOff x="0" y="0"/>
            <a:chExt cx="11289500" cy="52610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89538" cy="5261102"/>
            </a:xfrm>
            <a:custGeom>
              <a:avLst/>
              <a:gdLst/>
              <a:ahLst/>
              <a:cxnLst/>
              <a:rect l="l" t="t" r="r" b="b"/>
              <a:pathLst>
                <a:path w="11289538" h="5261102">
                  <a:moveTo>
                    <a:pt x="0" y="152908"/>
                  </a:moveTo>
                  <a:cubicBezTo>
                    <a:pt x="0" y="68453"/>
                    <a:pt x="68453" y="0"/>
                    <a:pt x="152908" y="0"/>
                  </a:cubicBezTo>
                  <a:lnTo>
                    <a:pt x="11136630" y="0"/>
                  </a:lnTo>
                  <a:cubicBezTo>
                    <a:pt x="11221086" y="0"/>
                    <a:pt x="11289538" y="68453"/>
                    <a:pt x="11289538" y="152908"/>
                  </a:cubicBezTo>
                  <a:lnTo>
                    <a:pt x="11289538" y="5108194"/>
                  </a:lnTo>
                  <a:cubicBezTo>
                    <a:pt x="11289538" y="5192649"/>
                    <a:pt x="11221086" y="5261102"/>
                    <a:pt x="11136630" y="5261102"/>
                  </a:cubicBezTo>
                  <a:lnTo>
                    <a:pt x="152908" y="5261102"/>
                  </a:lnTo>
                  <a:cubicBezTo>
                    <a:pt x="68453" y="5261102"/>
                    <a:pt x="0" y="5192649"/>
                    <a:pt x="0" y="510819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35856" y="3843338"/>
            <a:ext cx="7049091" cy="2064544"/>
            <a:chOff x="0" y="0"/>
            <a:chExt cx="9398787" cy="27527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98762" cy="2752725"/>
            </a:xfrm>
            <a:custGeom>
              <a:avLst/>
              <a:gdLst/>
              <a:ahLst/>
              <a:cxnLst/>
              <a:rect l="l" t="t" r="r" b="b"/>
              <a:pathLst>
                <a:path w="9398762" h="2752725">
                  <a:moveTo>
                    <a:pt x="0" y="153416"/>
                  </a:moveTo>
                  <a:cubicBezTo>
                    <a:pt x="0" y="68707"/>
                    <a:pt x="68707" y="0"/>
                    <a:pt x="153416" y="0"/>
                  </a:cubicBezTo>
                  <a:lnTo>
                    <a:pt x="9245347" y="0"/>
                  </a:lnTo>
                  <a:cubicBezTo>
                    <a:pt x="9330055" y="0"/>
                    <a:pt x="9398762" y="68707"/>
                    <a:pt x="9398762" y="153416"/>
                  </a:cubicBezTo>
                  <a:lnTo>
                    <a:pt x="9398762" y="2599309"/>
                  </a:lnTo>
                  <a:cubicBezTo>
                    <a:pt x="9398762" y="2684018"/>
                    <a:pt x="9330055" y="2752725"/>
                    <a:pt x="9245347" y="2752725"/>
                  </a:cubicBezTo>
                  <a:lnTo>
                    <a:pt x="153416" y="2752725"/>
                  </a:lnTo>
                  <a:cubicBezTo>
                    <a:pt x="68707" y="2752725"/>
                    <a:pt x="0" y="2684018"/>
                    <a:pt x="0" y="2599309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35856" y="6150769"/>
            <a:ext cx="7049091" cy="1650206"/>
            <a:chOff x="0" y="0"/>
            <a:chExt cx="9398787" cy="22002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98762" cy="2200275"/>
            </a:xfrm>
            <a:custGeom>
              <a:avLst/>
              <a:gdLst/>
              <a:ahLst/>
              <a:cxnLst/>
              <a:rect l="l" t="t" r="r" b="b"/>
              <a:pathLst>
                <a:path w="9398762" h="2200275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9245092" y="0"/>
                  </a:lnTo>
                  <a:cubicBezTo>
                    <a:pt x="9329928" y="0"/>
                    <a:pt x="9398762" y="68834"/>
                    <a:pt x="9398762" y="153670"/>
                  </a:cubicBezTo>
                  <a:lnTo>
                    <a:pt x="9398762" y="2046605"/>
                  </a:lnTo>
                  <a:cubicBezTo>
                    <a:pt x="9398762" y="2131441"/>
                    <a:pt x="9329928" y="2200275"/>
                    <a:pt x="9245092" y="2200275"/>
                  </a:cubicBezTo>
                  <a:lnTo>
                    <a:pt x="153670" y="2200275"/>
                  </a:lnTo>
                  <a:cubicBezTo>
                    <a:pt x="68834" y="2200275"/>
                    <a:pt x="0" y="2131441"/>
                    <a:pt x="0" y="2046605"/>
                  </a:cubicBezTo>
                  <a:close/>
                </a:path>
              </a:pathLst>
            </a:custGeom>
            <a:solidFill>
              <a:srgbClr val="EFF6FF"/>
            </a:solidFill>
            <a:ln w="14288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49341" y="4670669"/>
            <a:ext cx="7738462" cy="2234957"/>
            <a:chOff x="0" y="0"/>
            <a:chExt cx="10317950" cy="26667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17988" cy="2666746"/>
            </a:xfrm>
            <a:custGeom>
              <a:avLst/>
              <a:gdLst/>
              <a:ahLst/>
              <a:cxnLst/>
              <a:rect l="l" t="t" r="r" b="b"/>
              <a:pathLst>
                <a:path w="10317988" h="2666746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0203688" y="0"/>
                  </a:lnTo>
                  <a:cubicBezTo>
                    <a:pt x="10266807" y="0"/>
                    <a:pt x="10317988" y="51181"/>
                    <a:pt x="10317988" y="114300"/>
                  </a:cubicBezTo>
                  <a:lnTo>
                    <a:pt x="10317988" y="2552446"/>
                  </a:lnTo>
                  <a:cubicBezTo>
                    <a:pt x="10317988" y="2615565"/>
                    <a:pt x="10266807" y="2666746"/>
                    <a:pt x="10203688" y="2666746"/>
                  </a:cubicBezTo>
                  <a:lnTo>
                    <a:pt x="114300" y="2666746"/>
                  </a:lnTo>
                  <a:cubicBezTo>
                    <a:pt x="51181" y="2666746"/>
                    <a:pt x="0" y="2615565"/>
                    <a:pt x="0" y="2552446"/>
                  </a:cubicBezTo>
                  <a:close/>
                </a:path>
              </a:pathLst>
            </a:custGeom>
            <a:solidFill>
              <a:srgbClr val="0A192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43000" y="790575"/>
            <a:ext cx="17145000" cy="228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08 • DATA RETRIEVAL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1123950"/>
            <a:ext cx="17145000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GETTING RESULTS VIA RESULTSET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49341" y="4203944"/>
            <a:ext cx="923865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1" dirty="0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READING RECORDS EXAMPLE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06516" y="4870694"/>
            <a:ext cx="736698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lang="en-US" sz="2000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rs.next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 {</a:t>
            </a:r>
          </a:p>
          <a:p>
            <a:pPr algn="l"/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2000" dirty="0">
                <a:solidFill>
                  <a:srgbClr val="93C5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ssn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000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rs.getInt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dirty="0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"SSN"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</a:p>
          <a:p>
            <a:pPr algn="l"/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2000" dirty="0">
                <a:solidFill>
                  <a:srgbClr val="93C5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name = </a:t>
            </a:r>
            <a:r>
              <a:rPr lang="en-US" sz="2000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rs.getString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dirty="0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"NAME"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</a:p>
          <a:p>
            <a:pPr algn="l"/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</a:t>
            </a:r>
            <a:r>
              <a:rPr lang="en-US" sz="2000" dirty="0">
                <a:solidFill>
                  <a:srgbClr val="93C5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marks = </a:t>
            </a:r>
            <a:r>
              <a:rPr lang="en-US" sz="2000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rs.getInt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dirty="0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"MARKS"</a:t>
            </a:r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</a:p>
          <a:p>
            <a:pPr algn="l"/>
            <a:r>
              <a:rPr lang="en-US" sz="2000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49341" y="7202986"/>
            <a:ext cx="7881337" cy="54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Values can be extracted by column name label or by 1-based numerical column index.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612" y="4169569"/>
            <a:ext cx="837058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The ResultSet Cursor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1612" y="4541044"/>
            <a:ext cx="6520453" cy="1031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ResultSet contains a cursor pointing to the current record. Initially, the cursor is positioned </a:t>
            </a:r>
            <a:r>
              <a:rPr lang="en-US" sz="1687" b="1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before the first record</a:t>
            </a: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; calling </a:t>
            </a:r>
            <a:r>
              <a:rPr lang="en-US" sz="1687" b="1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next()</a:t>
            </a: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moves it to the next available record.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3038" y="6438900"/>
            <a:ext cx="8445589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rs.next() Navigation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3038" y="6786562"/>
            <a:ext cx="6577603" cy="70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1687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Returns true as long as there is another valid record to process, enabling clean sequential loops.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685925"/>
            <a:ext cx="9209189" cy="7972425"/>
            <a:chOff x="0" y="0"/>
            <a:chExt cx="12278919" cy="10629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78868" cy="10629900"/>
            </a:xfrm>
            <a:custGeom>
              <a:avLst/>
              <a:gdLst/>
              <a:ahLst/>
              <a:cxnLst/>
              <a:rect l="l" t="t" r="r" b="b"/>
              <a:pathLst>
                <a:path w="12278868" h="10629900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12126595" y="0"/>
                  </a:lnTo>
                  <a:cubicBezTo>
                    <a:pt x="12210669" y="0"/>
                    <a:pt x="12278868" y="68199"/>
                    <a:pt x="12278868" y="152273"/>
                  </a:cubicBezTo>
                  <a:lnTo>
                    <a:pt x="12278868" y="10477627"/>
                  </a:lnTo>
                  <a:cubicBezTo>
                    <a:pt x="12278868" y="10561701"/>
                    <a:pt x="12210669" y="10629900"/>
                    <a:pt x="12126595" y="10629900"/>
                  </a:cubicBezTo>
                  <a:lnTo>
                    <a:pt x="152273" y="10629900"/>
                  </a:lnTo>
                  <a:cubicBezTo>
                    <a:pt x="68199" y="10629900"/>
                    <a:pt x="0" y="10561701"/>
                    <a:pt x="0" y="10477627"/>
                  </a:cubicBezTo>
                  <a:close/>
                </a:path>
              </a:pathLst>
            </a:custGeom>
            <a:solidFill>
              <a:srgbClr val="0A192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573645" y="1678781"/>
            <a:ext cx="6692798" cy="7986712"/>
            <a:chOff x="0" y="0"/>
            <a:chExt cx="8923731" cy="10648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23655" cy="10648950"/>
            </a:xfrm>
            <a:custGeom>
              <a:avLst/>
              <a:gdLst/>
              <a:ahLst/>
              <a:cxnLst/>
              <a:rect l="l" t="t" r="r" b="b"/>
              <a:pathLst>
                <a:path w="8923655" h="10648950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8771001" y="0"/>
                  </a:lnTo>
                  <a:cubicBezTo>
                    <a:pt x="8855329" y="0"/>
                    <a:pt x="8923655" y="68326"/>
                    <a:pt x="8923655" y="152654"/>
                  </a:cubicBezTo>
                  <a:lnTo>
                    <a:pt x="8923655" y="10496296"/>
                  </a:lnTo>
                  <a:cubicBezTo>
                    <a:pt x="8923655" y="10580624"/>
                    <a:pt x="8855329" y="10648950"/>
                    <a:pt x="8771001" y="10648950"/>
                  </a:cubicBezTo>
                  <a:lnTo>
                    <a:pt x="152654" y="10648950"/>
                  </a:lnTo>
                  <a:cubicBezTo>
                    <a:pt x="68326" y="10648950"/>
                    <a:pt x="0" y="10580624"/>
                    <a:pt x="0" y="10496296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873645" y="2514012"/>
            <a:ext cx="6092761" cy="455293"/>
            <a:chOff x="0" y="0"/>
            <a:chExt cx="8123631" cy="5905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873645" y="3305779"/>
            <a:ext cx="6092723" cy="442912"/>
            <a:chOff x="0" y="0"/>
            <a:chExt cx="8123631" cy="590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880827" y="4046934"/>
            <a:ext cx="6092723" cy="533838"/>
            <a:chOff x="0" y="0"/>
            <a:chExt cx="8123631" cy="590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880827" y="4913105"/>
            <a:ext cx="6092723" cy="659467"/>
            <a:chOff x="0" y="0"/>
            <a:chExt cx="8123631" cy="590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880827" y="5959454"/>
            <a:ext cx="6092723" cy="442912"/>
            <a:chOff x="0" y="0"/>
            <a:chExt cx="8123631" cy="5905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880827" y="6758054"/>
            <a:ext cx="6092723" cy="442912"/>
            <a:chOff x="0" y="0"/>
            <a:chExt cx="8123631" cy="5905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880827" y="7520021"/>
            <a:ext cx="6092723" cy="442912"/>
            <a:chOff x="0" y="0"/>
            <a:chExt cx="8123631" cy="590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873683" y="8281988"/>
            <a:ext cx="6092723" cy="442912"/>
            <a:chOff x="0" y="0"/>
            <a:chExt cx="8123631" cy="5905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3682" cy="590550"/>
            </a:xfrm>
            <a:custGeom>
              <a:avLst/>
              <a:gdLst/>
              <a:ahLst/>
              <a:cxnLst/>
              <a:rect l="l" t="t" r="r" b="b"/>
              <a:pathLst>
                <a:path w="8123682" h="590550">
                  <a:moveTo>
                    <a:pt x="0" y="78740"/>
                  </a:moveTo>
                  <a:cubicBezTo>
                    <a:pt x="0" y="35306"/>
                    <a:pt x="35306" y="0"/>
                    <a:pt x="78740" y="0"/>
                  </a:cubicBezTo>
                  <a:lnTo>
                    <a:pt x="8044942" y="0"/>
                  </a:lnTo>
                  <a:cubicBezTo>
                    <a:pt x="8088376" y="0"/>
                    <a:pt x="8123682" y="35306"/>
                    <a:pt x="8123682" y="78740"/>
                  </a:cubicBezTo>
                  <a:lnTo>
                    <a:pt x="8123682" y="511810"/>
                  </a:lnTo>
                  <a:cubicBezTo>
                    <a:pt x="8123682" y="555244"/>
                    <a:pt x="8088376" y="590550"/>
                    <a:pt x="8044942" y="590550"/>
                  </a:cubicBezTo>
                  <a:lnTo>
                    <a:pt x="78740" y="590550"/>
                  </a:lnTo>
                  <a:cubicBezTo>
                    <a:pt x="35306" y="590550"/>
                    <a:pt x="0" y="555244"/>
                    <a:pt x="0" y="5118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28700" y="619125"/>
            <a:ext cx="17259300" cy="2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 dirty="0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SECTION 09 • IMPLEMENTATION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895350"/>
            <a:ext cx="1725930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COMPLETE EXAMPLE &amp; PROGRAM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4450" y="3618757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java.sql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.*;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4450" y="3856958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93">
                <a:solidFill>
                  <a:srgbClr val="93C5F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MysqlCon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4450" y="4095150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</a:t>
            </a:r>
            <a:r>
              <a:rPr lang="en-US" sz="1293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main(String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[]) {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4450" y="4333351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</a:t>
            </a:r>
            <a:r>
              <a:rPr lang="en-US" sz="1293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4450" y="4571552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Class.forName(</a:t>
            </a:r>
            <a:r>
              <a:rPr lang="en-US" sz="1293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"com.mysql.cj.jdbc.Driver"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4450" y="4809754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Connection con = DriverManager.getConnection(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4450" y="5047955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</a:t>
            </a:r>
            <a:r>
              <a:rPr lang="en-US" sz="1293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"jdbc:mysql://localhost:3306/test"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293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"root"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293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"root"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14450" y="5286156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Statement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stmt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con.createStatement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14450" y="5524348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String query = </a:t>
            </a:r>
            <a:r>
              <a:rPr lang="en-US" sz="1293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"SELECT * FROM student"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4450" y="5762549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ResultSet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stmt.executeQuery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(query);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4450" y="6000750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</a:t>
            </a:r>
            <a:r>
              <a:rPr lang="en-US" sz="1293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(rs.next()) {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4450" y="6238951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rs.getInt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(1) + </a:t>
            </a:r>
            <a:r>
              <a:rPr lang="en-US" sz="1293" dirty="0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rs.getString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(2) + </a:t>
            </a:r>
            <a:r>
              <a:rPr lang="en-US" sz="1293" dirty="0">
                <a:solidFill>
                  <a:srgbClr val="FDE04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rs.getInt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(3));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4450" y="6477152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}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14450" y="6715344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con.close();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14450" y="6953545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} </a:t>
            </a:r>
            <a:r>
              <a:rPr lang="en-US" sz="1293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catch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(Exception e) { </a:t>
            </a:r>
            <a:r>
              <a:rPr lang="en-US" sz="1293" dirty="0" err="1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293" dirty="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(e); }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4450" y="7191746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14450" y="7429948"/>
            <a:ext cx="10797111" cy="2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93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80827" y="1919287"/>
            <a:ext cx="7407173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2000" b="1" dirty="0">
                <a:solidFill>
                  <a:srgbClr val="0A192F"/>
                </a:solidFill>
                <a:latin typeface="Arimo Bold"/>
                <a:ea typeface="Arimo Bold"/>
                <a:cs typeface="Arimo Bold"/>
                <a:sym typeface="Arimo Bold"/>
              </a:rPr>
              <a:t>EXECUTION FLOW OF PROGRAM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52277" y="2719485"/>
            <a:ext cx="6042729" cy="214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Import java.sql.*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52239" y="3481485"/>
            <a:ext cx="6042729" cy="214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Load JDBC Driver (</a:t>
            </a:r>
            <a:r>
              <a:rPr lang="en-US" dirty="0" err="1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Class.forName</a:t>
            </a: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059421" y="4167285"/>
            <a:ext cx="6042729" cy="214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</a:t>
            </a:r>
            <a:r>
              <a:rPr lang="en-US" dirty="0" err="1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DriverManager.getConnection</a:t>
            </a: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59421" y="5163710"/>
            <a:ext cx="5878411" cy="20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Obtain Connection Object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59421" y="6052323"/>
            <a:ext cx="5878411" cy="20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 </a:t>
            </a:r>
            <a:r>
              <a:rPr lang="en-US" dirty="0" err="1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createStatement</a:t>
            </a: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→ Statement Object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59421" y="6896166"/>
            <a:ext cx="5878411" cy="20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 </a:t>
            </a:r>
            <a:r>
              <a:rPr lang="en-US" dirty="0" err="1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executeQuery</a:t>
            </a: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→ </a:t>
            </a:r>
            <a:r>
              <a:rPr lang="en-US" dirty="0" err="1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ResultSet</a:t>
            </a:r>
            <a:endParaRPr lang="en-US" dirty="0">
              <a:solidFill>
                <a:srgbClr val="1E3A8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1059451" y="7678310"/>
            <a:ext cx="5878411" cy="20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 </a:t>
            </a:r>
            <a:r>
              <a:rPr lang="en-US" dirty="0" err="1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rs.next</a:t>
            </a: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→ Display Records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52277" y="8420100"/>
            <a:ext cx="5878411" cy="20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8. </a:t>
            </a:r>
            <a:r>
              <a:rPr lang="en-US" dirty="0" err="1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con.close</a:t>
            </a:r>
            <a:r>
              <a:rPr lang="en-US" dirty="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8364" y="3928165"/>
            <a:ext cx="11739145" cy="1967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84"/>
              </a:lnSpc>
            </a:pPr>
            <a:r>
              <a:rPr lang="en-US" sz="12153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1231</Words>
  <Application>Microsoft Office PowerPoint</Application>
  <PresentationFormat>Custom</PresentationFormat>
  <Paragraphs>194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Arimo</vt:lpstr>
      <vt:lpstr>Shrikhand</vt:lpstr>
      <vt:lpstr>JetBrains Mono</vt:lpstr>
      <vt:lpstr>Archivo Black</vt:lpstr>
      <vt:lpstr>Arimo Bold</vt:lpstr>
      <vt:lpstr>Source Sans Pro</vt:lpstr>
      <vt:lpstr>Arial</vt:lpstr>
      <vt:lpstr>JetBrains Mono Bold</vt:lpstr>
      <vt:lpstr>Lora Bold</vt:lpstr>
      <vt:lpstr>Source Sans Pro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JDBC Connectivity Model &amp; Database Programming</dc:title>
  <dc:creator>GI</dc:creator>
  <cp:lastModifiedBy>GI</cp:lastModifiedBy>
  <cp:revision>27</cp:revision>
  <dcterms:created xsi:type="dcterms:W3CDTF">2006-08-16T00:00:00Z</dcterms:created>
  <dcterms:modified xsi:type="dcterms:W3CDTF">2026-10-13T06:00:37Z</dcterms:modified>
  <dc:identifier>DAHXdGSm3cE</dc:identifier>
</cp:coreProperties>
</file>